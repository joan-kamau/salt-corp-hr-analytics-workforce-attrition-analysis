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Employees</c:v>
                </c:pt>
              </c:strCache>
            </c:strRef>
          </c:tx>
          <c:spPr>
            <a:solidFill>
              <a:srgbClr val="1C7293"/>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Finance</c:v>
                </c:pt>
                <c:pt idx="1">
                  <c:v>Sales</c:v>
                </c:pt>
                <c:pt idx="2">
                  <c:v>HR</c:v>
                </c:pt>
                <c:pt idx="3">
                  <c:v>IT</c:v>
                </c:pt>
                <c:pt idx="4">
                  <c:v>Marketing</c:v>
                </c:pt>
              </c:strCache>
            </c:strRef>
          </c:cat>
          <c:val>
            <c:numRef>
              <c:f>Sheet1!$B$2:$B$6</c:f>
              <c:numCache>
                <c:formatCode>General</c:formatCode>
                <c:ptCount val="5"/>
                <c:pt idx="0">
                  <c:v>218</c:v>
                </c:pt>
                <c:pt idx="1">
                  <c:v>202</c:v>
                </c:pt>
                <c:pt idx="2">
                  <c:v>200</c:v>
                </c:pt>
                <c:pt idx="3">
                  <c:v>193</c:v>
                </c:pt>
                <c:pt idx="4">
                  <c:v>187</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d928da7d-66e5-46ec-9d64-f6d04372dce2}"/>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Avg Salary</c:v>
                </c:pt>
              </c:strCache>
            </c:strRef>
          </c:tx>
          <c:spPr>
            <a:solidFill>
              <a:srgbClr val="E8A33D"/>
            </a:solidFill>
            <a:effectLst/>
          </c:spPr>
          <c:invertIfNegative val="0"/>
          <c:dLbls>
            <c:numFmt formatCode="&quot;$&quot;#,##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Sales</c:v>
                </c:pt>
                <c:pt idx="1">
                  <c:v>HR</c:v>
                </c:pt>
                <c:pt idx="2">
                  <c:v>Marketing</c:v>
                </c:pt>
                <c:pt idx="3">
                  <c:v>Finance</c:v>
                </c:pt>
                <c:pt idx="4">
                  <c:v>IT</c:v>
                </c:pt>
              </c:strCache>
            </c:strRef>
          </c:cat>
          <c:val>
            <c:numRef>
              <c:f>Sheet1!$B$2:$B$6</c:f>
              <c:numCache>
                <c:formatCode>General</c:formatCode>
                <c:ptCount val="5"/>
                <c:pt idx="0">
                  <c:v>60993</c:v>
                </c:pt>
                <c:pt idx="1">
                  <c:v>60236</c:v>
                </c:pt>
                <c:pt idx="2">
                  <c:v>60107</c:v>
                </c:pt>
                <c:pt idx="3">
                  <c:v>59984</c:v>
                </c:pt>
                <c:pt idx="4">
                  <c:v>59713</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in val="5900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546c069-378e-4b4e-9386-bdcf38d47d0c}"/>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Attrition Rate (%)</c:v>
                </c:pt>
              </c:strCache>
            </c:strRef>
          </c:tx>
          <c:spPr>
            <a:solidFill>
              <a:srgbClr val="E8A33D">
                <a:alpha val="100000"/>
              </a:srgbClr>
            </a:solidFill>
            <a:effectLst/>
          </c:spPr>
          <c:invertIfNegative val="0"/>
          <c:dPt>
            <c:idx val="0"/>
            <c:invertIfNegative val="0"/>
            <c:bubble3D val="0"/>
            <c:spPr>
              <a:solidFill>
                <a:srgbClr val="E8A33D"/>
              </a:solidFill>
              <a:effectLst/>
            </c:spPr>
          </c:dPt>
          <c:dPt>
            <c:idx val="1"/>
            <c:invertIfNegative val="0"/>
            <c:bubble3D val="0"/>
            <c:spPr>
              <a:solidFill>
                <a:srgbClr val="1C7293"/>
              </a:solidFill>
              <a:effectLst/>
            </c:spPr>
          </c:dPt>
          <c:dPt>
            <c:idx val="2"/>
            <c:invertIfNegative val="0"/>
            <c:bubble3D val="0"/>
            <c:spPr>
              <a:solidFill>
                <a:srgbClr val="1C7293"/>
              </a:solidFill>
              <a:effectLst/>
            </c:spPr>
          </c:dPt>
          <c:dPt>
            <c:idx val="3"/>
            <c:invertIfNegative val="0"/>
            <c:bubble3D val="0"/>
            <c:spPr>
              <a:solidFill>
                <a:srgbClr val="1C7293"/>
              </a:solidFill>
              <a:effectLst/>
            </c:spPr>
          </c:dPt>
          <c:dPt>
            <c:idx val="4"/>
            <c:invertIfNegative val="0"/>
            <c:bubble3D val="0"/>
            <c:spPr>
              <a:solidFill>
                <a:srgbClr val="2C5F2D"/>
              </a:solidFill>
              <a:effectLst/>
            </c:spPr>
          </c:dPt>
          <c:dLbls>
            <c:numFmt formatCode="0.0&quot;%&quot;"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Marketing</c:v>
                </c:pt>
                <c:pt idx="1">
                  <c:v>IT</c:v>
                </c:pt>
                <c:pt idx="2">
                  <c:v>Finance</c:v>
                </c:pt>
                <c:pt idx="3">
                  <c:v>Sales</c:v>
                </c:pt>
                <c:pt idx="4">
                  <c:v>HR</c:v>
                </c:pt>
              </c:strCache>
            </c:strRef>
          </c:cat>
          <c:val>
            <c:numRef>
              <c:f>Sheet1!$B$2:$B$6</c:f>
              <c:numCache>
                <c:formatCode>General</c:formatCode>
                <c:ptCount val="5"/>
                <c:pt idx="0">
                  <c:v>42.8</c:v>
                </c:pt>
                <c:pt idx="1">
                  <c:v>40.4</c:v>
                </c:pt>
                <c:pt idx="2">
                  <c:v>40.4</c:v>
                </c:pt>
                <c:pt idx="3">
                  <c:v>36.6</c:v>
                </c:pt>
                <c:pt idx="4">
                  <c:v>36</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5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c665ec1f-0c56-4b2a-a9c4-31d60455f05f}"/>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Attrition Rate (%)</c:v>
                </c:pt>
              </c:strCache>
            </c:strRef>
          </c:tx>
          <c:spPr>
            <a:solidFill>
              <a:srgbClr val="E8A33D"/>
            </a:solidFill>
            <a:effectLst/>
          </c:spPr>
          <c:invertIfNegative val="0"/>
          <c:dPt>
            <c:idx val="0"/>
            <c:invertIfNegative val="0"/>
            <c:bubble3D val="0"/>
            <c:spPr>
              <a:solidFill>
                <a:srgbClr val="E8A33D"/>
              </a:solidFill>
              <a:effectLst/>
            </c:spPr>
          </c:dPt>
          <c:dPt>
            <c:idx val="1"/>
            <c:invertIfNegative val="0"/>
            <c:bubble3D val="0"/>
            <c:spPr>
              <a:solidFill>
                <a:srgbClr val="E8A33D"/>
              </a:solidFill>
              <a:effectLst/>
            </c:spPr>
          </c:dPt>
          <c:dPt>
            <c:idx val="2"/>
            <c:invertIfNegative val="0"/>
            <c:bubble3D val="0"/>
            <c:spPr>
              <a:solidFill>
                <a:srgbClr val="3B6FA0"/>
              </a:solidFill>
              <a:effectLst/>
            </c:spPr>
          </c:dPt>
          <c:dPt>
            <c:idx val="3"/>
            <c:invertIfNegative val="0"/>
            <c:bubble3D val="0"/>
            <c:spPr>
              <a:solidFill>
                <a:srgbClr val="3B6FA0"/>
              </a:solidFill>
              <a:effectLst/>
            </c:spPr>
          </c:dPt>
          <c:dPt>
            <c:idx val="4"/>
            <c:invertIfNegative val="0"/>
            <c:bubble3D val="0"/>
            <c:spPr>
              <a:solidFill>
                <a:srgbClr val="3B6FA0"/>
              </a:solidFill>
              <a:effectLst/>
            </c:spPr>
          </c:dPt>
          <c:dLbls>
            <c:numFmt formatCode="0.0&quot;%&quot;"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1
(Very Dissatisfied)</c:v>
                </c:pt>
                <c:pt idx="1">
                  <c:v>2
(Dissatisfied)</c:v>
                </c:pt>
                <c:pt idx="2">
                  <c:v>3
(Neutral)</c:v>
                </c:pt>
                <c:pt idx="3">
                  <c:v>4
(Satisfied)</c:v>
                </c:pt>
                <c:pt idx="4">
                  <c:v>5
(Very Satisfied)</c:v>
                </c:pt>
              </c:strCache>
            </c:strRef>
          </c:cat>
          <c:val>
            <c:numRef>
              <c:f>Sheet1!$B$2:$B$6</c:f>
              <c:numCache>
                <c:formatCode>General</c:formatCode>
                <c:ptCount val="5"/>
                <c:pt idx="0">
                  <c:v>58.7</c:v>
                </c:pt>
                <c:pt idx="1">
                  <c:v>53.3</c:v>
                </c:pt>
                <c:pt idx="2">
                  <c:v>27.5</c:v>
                </c:pt>
                <c:pt idx="3">
                  <c:v>26.2</c:v>
                </c:pt>
                <c:pt idx="4">
                  <c:v>25.6</c:v>
                </c:pt>
              </c:numCache>
            </c:numRef>
          </c:val>
        </c:ser>
        <c:dLbls>
          <c:showLegendKey val="0"/>
          <c:showVal val="1"/>
          <c:showCatName val="0"/>
          <c:showSerName val="0"/>
          <c:showPercent val="0"/>
          <c:showBubbleSize val="0"/>
        </c:dLbls>
        <c:gapWidth val="3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CADCFC"/>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7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solidFill>
          <a:srgbClr val="1B2A4A"/>
        </a:solidFill>
        <a:ln>
          <a:noFill/>
        </a:ln>
        <a:effectLst/>
      </c:spPr>
    </c:plotArea>
    <c:plotVisOnly val="1"/>
    <c:dispBlanksAs val="span"/>
    <c:showDLblsOverMax val="0"/>
    <c:extLst>
      <c:ext uri="{0b15fc19-7d7d-44ad-8c2d-2c3a37ce22c3}">
        <chartProps xmlns="https://web.wps.cn/et/2018/main" chartId="{f5ce2c86-d956-4ca0-a8f2-d78dc15add8a}"/>
      </c:ext>
    </c:extLst>
  </c:chart>
  <c:spPr>
    <a:solidFill>
      <a:srgbClr val="1B2A4A"/>
    </a:solid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Avg Job Satisfaction</c:v>
                </c:pt>
              </c:strCache>
            </c:strRef>
          </c:tx>
          <c:spPr>
            <a:solidFill>
              <a:srgbClr val="2C5F2D"/>
            </a:solidFill>
            <a:effectLst/>
          </c:spPr>
          <c:invertIfNegative val="0"/>
          <c:dPt>
            <c:idx val="0"/>
            <c:invertIfNegative val="0"/>
            <c:bubble3D val="0"/>
            <c:spPr>
              <a:solidFill>
                <a:srgbClr val="2C5F2D"/>
              </a:solidFill>
              <a:effectLst/>
            </c:spPr>
          </c:dPt>
          <c:dPt>
            <c:idx val="1"/>
            <c:invertIfNegative val="0"/>
            <c:bubble3D val="0"/>
            <c:spPr>
              <a:solidFill>
                <a:srgbClr val="2C5F2D"/>
              </a:solidFill>
              <a:effectLst/>
            </c:spPr>
          </c:dPt>
          <c:dPt>
            <c:idx val="2"/>
            <c:invertIfNegative val="0"/>
            <c:bubble3D val="0"/>
            <c:spPr>
              <a:solidFill>
                <a:srgbClr val="2C5F2D"/>
              </a:solidFill>
              <a:effectLst/>
            </c:spPr>
          </c:dPt>
          <c:dPt>
            <c:idx val="3"/>
            <c:invertIfNegative val="0"/>
            <c:bubble3D val="0"/>
            <c:spPr>
              <a:solidFill>
                <a:srgbClr val="2C5F2D"/>
              </a:solidFill>
              <a:effectLst/>
            </c:spPr>
          </c:dPt>
          <c:dPt>
            <c:idx val="4"/>
            <c:invertIfNegative val="0"/>
            <c:bubble3D val="0"/>
            <c:spPr>
              <a:solidFill>
                <a:srgbClr val="E8A33D"/>
              </a:solidFill>
              <a:effectLst/>
            </c:spPr>
          </c:dPt>
          <c:dLbls>
            <c:numFmt formatCode="0.00"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Marketing</c:v>
                </c:pt>
                <c:pt idx="1">
                  <c:v>HR</c:v>
                </c:pt>
                <c:pt idx="2">
                  <c:v>Sales</c:v>
                </c:pt>
                <c:pt idx="3">
                  <c:v>IT</c:v>
                </c:pt>
                <c:pt idx="4">
                  <c:v>Finance</c:v>
                </c:pt>
              </c:strCache>
            </c:strRef>
          </c:cat>
          <c:val>
            <c:numRef>
              <c:f>Sheet1!$B$2:$B$6</c:f>
              <c:numCache>
                <c:formatCode>General</c:formatCode>
                <c:ptCount val="5"/>
                <c:pt idx="0">
                  <c:v>3.01</c:v>
                </c:pt>
                <c:pt idx="1">
                  <c:v>2.99</c:v>
                </c:pt>
                <c:pt idx="2">
                  <c:v>2.98</c:v>
                </c:pt>
                <c:pt idx="3">
                  <c:v>2.91</c:v>
                </c:pt>
                <c:pt idx="4">
                  <c:v>2.72</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3.5"/>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f09e0da8-f3d7-416c-b216-e5561261a39e}"/>
      </c:ext>
    </c:extLst>
  </c:chart>
  <c:spPr>
    <a:no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Attrition Rate (%)</c:v>
                </c:pt>
              </c:strCache>
            </c:strRef>
          </c:tx>
          <c:spPr>
            <a:solidFill>
              <a:srgbClr val="1C7293"/>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24-33</c:v>
                </c:pt>
                <c:pt idx="1">
                  <c:v>34-43</c:v>
                </c:pt>
                <c:pt idx="2">
                  <c:v>44-53</c:v>
                </c:pt>
                <c:pt idx="3">
                  <c:v>54-63</c:v>
                </c:pt>
              </c:strCache>
            </c:strRef>
          </c:cat>
          <c:val>
            <c:numRef>
              <c:f>Sheet1!$B$2:$B$5</c:f>
              <c:numCache>
                <c:formatCode>General</c:formatCode>
                <c:ptCount val="4"/>
                <c:pt idx="0">
                  <c:v>40</c:v>
                </c:pt>
                <c:pt idx="1">
                  <c:v>39.4</c:v>
                </c:pt>
                <c:pt idx="2">
                  <c:v>38.4</c:v>
                </c:pt>
                <c:pt idx="3">
                  <c:v>16.7</c:v>
                </c:pt>
              </c:numCache>
            </c:numRef>
          </c:val>
        </c:ser>
        <c:dLbls>
          <c:showLegendKey val="0"/>
          <c:showVal val="1"/>
          <c:showCatName val="0"/>
          <c:showSerName val="0"/>
          <c:showPercent val="0"/>
          <c:showBubbleSize val="0"/>
        </c:dLbls>
        <c:gapWidth val="3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5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3e51f5a3-fbe5-4c47-9baf-de6fa94f1d5c}"/>
      </c:ext>
    </c:extLst>
  </c:chart>
  <c:spPr>
    <a:noFill/>
    <a:ln>
      <a:noFill/>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Attrition Rate (%)</c:v>
                </c:pt>
              </c:strCache>
            </c:strRef>
          </c:tx>
          <c:spPr>
            <a:solidFill>
              <a:srgbClr val="1C7293"/>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0-2 yrs</c:v>
                </c:pt>
                <c:pt idx="1">
                  <c:v>3-5 yrs</c:v>
                </c:pt>
                <c:pt idx="2">
                  <c:v>6-8 yrs</c:v>
                </c:pt>
              </c:strCache>
            </c:strRef>
          </c:cat>
          <c:val>
            <c:numRef>
              <c:f>Sheet1!$B$2:$B$4</c:f>
              <c:numCache>
                <c:formatCode>General</c:formatCode>
                <c:ptCount val="3"/>
                <c:pt idx="0">
                  <c:v>36.8</c:v>
                </c:pt>
                <c:pt idx="1">
                  <c:v>40.9</c:v>
                </c:pt>
                <c:pt idx="2">
                  <c:v>39.1</c:v>
                </c:pt>
              </c:numCache>
            </c:numRef>
          </c:val>
        </c:ser>
        <c:dLbls>
          <c:showLegendKey val="0"/>
          <c:showVal val="1"/>
          <c:showCatName val="0"/>
          <c:showSerName val="0"/>
          <c:showPercent val="0"/>
          <c:showBubbleSize val="0"/>
        </c:dLbls>
        <c:gapWidth val="3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5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3c26e6b9-cd39-458b-b125-80fa300655b3}"/>
      </c:ext>
    </c:extLst>
  </c:chart>
  <c:spPr>
    <a:noFill/>
    <a:ln>
      <a:noFill/>
    </a:ln>
    <a:effectLst/>
  </c:spPr>
  <c:txPr>
    <a:bodyPr/>
    <a:lstStyle/>
    <a:p>
      <a:pPr>
        <a:defRPr lang="en-US"/>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Attrition Rate (%)</c:v>
                </c:pt>
              </c:strCache>
            </c:strRef>
          </c:tx>
          <c:spPr>
            <a:solidFill>
              <a:srgbClr val="1C7293"/>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B2A4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Full-Time</c:v>
                </c:pt>
                <c:pt idx="1">
                  <c:v>Contract</c:v>
                </c:pt>
                <c:pt idx="2">
                  <c:v>Part-Time</c:v>
                </c:pt>
              </c:strCache>
            </c:strRef>
          </c:cat>
          <c:val>
            <c:numRef>
              <c:f>Sheet1!$B$2:$B$4</c:f>
              <c:numCache>
                <c:formatCode>General</c:formatCode>
                <c:ptCount val="3"/>
                <c:pt idx="0">
                  <c:v>40.2</c:v>
                </c:pt>
                <c:pt idx="1">
                  <c:v>40</c:v>
                </c:pt>
                <c:pt idx="2">
                  <c:v>36.9</c:v>
                </c:pt>
              </c:numCache>
            </c:numRef>
          </c:val>
        </c:ser>
        <c:dLbls>
          <c:showLegendKey val="0"/>
          <c:showVal val="1"/>
          <c:showCatName val="0"/>
          <c:showSerName val="0"/>
          <c:showPercent val="0"/>
          <c:showBubbleSize val="0"/>
        </c:dLbls>
        <c:gapWidth val="3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B7C93"/>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5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a0b5b4c1-9481-48f6-a6d0-4b300f5249c4}"/>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I'll walk through what our HR data is telling us about our workforce and, more importantly, why we're losing people. This analysis covers all 1,000 employees across five departments. We'll look at overall workforce composition, where attrition is concentrated, what's actually driving it, and then close with four concrete recommendations we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into the numbers, here's what this analysis was designed to do. First, build a clear baseline of who our workforce is — headcount, pay, and composition by department. Second, quantify attrition, both overall and by department, so we know where the problem is concentrated. Third, and most importantly, identify what's actually driving people to leave, rather than assuming — we tested job satisfaction, age, tenure, and employment status. Fourth, turn whatever we find into specific recommendations we can act on, not just an interesting chart. That's the structure of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starting from a workforce of 1,000 employees, fairly evenly split across five departments, with Finance being the largest at 218 people and Marketing the smallest at 187. Gender split is close to even, 49.3% female to 50.7% male, so this isn't a diversity-driven story. Average salary is just over $60,000 company-wide, and pay is pretty tight across departments too — Sales tops out around $61,000, IT is lowest around $59,700, so roughly a $1,300 spread. I'm flagging that now because it matters later: pay is not going to be our answer here. The number to keep in your head for the rest of this deck is 39.2% — that's our overall attrition rate, and it's high enough that it deserves a real diagnosis,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392 employees left us this year, out of 1,000. Breaking that down by department, Marketing is highest at 42.8%, HR is lowest at 36.0%. That's a 6.8 percentage-point gap, which is real, but I want to be careful here — it's not a massive spread. Every department is losing somewhere between a third and just under half of its people. So department alone explains some of the variation, but not most of it. That tells us we need to look one level deeper, which is exactly what the next slide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When we cut attrition by job satisfaction score instead of by department, the picture changes completely. Employees who rate their satisfaction a 1 or 2 leave at 58.7% and 53.3% respectively — call it 56% combined. Employees who rate satisfaction 3, 4, or 5 all leave at roughly the same rate, around 26%. That's a more than two-to-one difference, and it's consistent — it doesn't taper off gradually, it's a cliff between 'dissatisfied' and 'neutral or better.' This is a much stronger signal than department, tenure, age, or anything else we tested. If we're going to spend retention budget anywhere, this is where it should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satisfaction is the real driver, where is satisfaction worst? Finance. Its average score is 2.72 out of 5, noticeably below every other department, which cluster tightly between 2.9 and 3.0. And remember from a couple slides ago, Finance also had the second-highest attrition rate at 40.4%. Those two facts together are the clearest, most specific problem we found in this data. This isn't a company-wide culture issue — it looks localized to Finance, which means the fix can be targeted rather than company-wide.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jump to conclusions, I want to rule out the obvious suspects. Age: attrition is flat across the 24-53 range at around 38-40%, and the 54-63 group looks much lower, but that's only 12 people, so I wouldn't read too much into it. Years of service: the 3-5 year band is the highest at 40.9%, which lines up with the classic 'mid-career plateau' pattern — people who've been here a few years and don't see a clear next step. Employment status: Full-Time is actually highest at 40.2%, so this isn't a contractor or part-time problem. Bottom line: none of these demographic cuts explain the gap the way job satisfaction does. That's why our recommendations are built around satisfaction and tenure milestones, not broad policy changes based on age or employment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pull this together: job satisfaction is by far the biggest lever we have — it's the only factor that shows a true two-to-one difference in attrition. Finance stands out as a specific, fixable problem: lowest morale, second-highest attrition. Marketing and the 3-5 year tenure group are our two highest-turnover segments and deserve focused attention. And critically, demographics — age, tenure band, employment type — don't move the needle enough to justify broad, company-wide policy changes. That focuses our next steps considerably, which brings me to the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these specific challenges, we're proposing four targeted initiatives. First, redirect retention effort — manager time, workload review, recognition — toward employees scoring 1-2 on satisfaction, rather than a blanket salary increase; that group alone drives 56% of our attrition. Second, a Finance-specific morale review covering workload and tooling, since Finance combines the lowest satisfaction score, 2.72 out of 5, with the second-highest attrition rate. Third, a mid-tenure career path program — year-three milestone reviews, clear promotion tracks, retention bonuses at 36 months — aimed at the 3-to-5-year cohort, which peaks at 40.9% attrition. Fourth, mandatory 24-month stay interviews so managers catch burnout before someone's already decided to leave, rolled out first in Marketing, our highest-attrition department at 42.8%. None of these are expensive or company-wide; they're targeted at the specific groups the data points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analysis. To summarize the ask: review these four recommendations with the Finance and Marketing leads, assign an owner and a target date to each one, and let's reconvene in 30 days to check on rollout and agree on how we'll measure success — likely satisfaction score movement in Finance and attrition rate movement in the 1-2 satisfaction cohort. Happy to take questions now, or dig into any of the underlying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chart" Target="../charts/char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F3D5C"/>
          </a:solidFill>
        </p:spPr>
      </p:sp>
      <p:sp>
        <p:nvSpPr>
          <p:cNvPr id="3" name="Shape 1"/>
          <p:cNvSpPr/>
          <p:nvPr/>
        </p:nvSpPr>
        <p:spPr>
          <a:xfrm>
            <a:off x="10607040" y="4206240"/>
            <a:ext cx="3108960" cy="3108960"/>
          </a:xfrm>
          <a:prstGeom prst="ellipse">
            <a:avLst/>
          </a:prstGeom>
          <a:solidFill>
            <a:srgbClr val="1C7293">
              <a:alpha val="45000"/>
            </a:srgbClr>
          </a:solidFill>
        </p:spPr>
      </p:sp>
      <p:sp>
        <p:nvSpPr>
          <p:cNvPr id="4" name="Text 2"/>
          <p:cNvSpPr/>
          <p:nvPr/>
        </p:nvSpPr>
        <p:spPr>
          <a:xfrm>
            <a:off x="640080" y="548640"/>
            <a:ext cx="5486400" cy="457200"/>
          </a:xfrm>
          <a:prstGeom prst="rect">
            <a:avLst/>
          </a:prstGeom>
          <a:noFill/>
        </p:spPr>
        <p:txBody>
          <a:bodyPr wrap="square" rtlCol="0" anchor="ctr"/>
          <a:lstStyle/>
          <a:p>
            <a:pPr marL="0" indent="0">
              <a:buNone/>
            </a:pPr>
            <a:r>
              <a:rPr lang="en-US" sz="1600" b="1" kern="0" spc="300" dirty="0">
                <a:solidFill>
                  <a:srgbClr val="CADCFC"/>
                </a:solidFill>
                <a:latin typeface="Calibri" panose="020F0502020204030204" pitchFamily="34" charset="0"/>
                <a:ea typeface="Calibri" panose="020F0502020204030204" pitchFamily="34" charset="-122"/>
                <a:cs typeface="Calibri" panose="020F0502020204030204" pitchFamily="34" charset="-120"/>
              </a:rPr>
              <a:t>Salt Corporation</a:t>
            </a:r>
            <a:endParaRPr lang="en-US" sz="1600" dirty="0"/>
          </a:p>
        </p:txBody>
      </p:sp>
      <p:sp>
        <p:nvSpPr>
          <p:cNvPr id="5" name="Text 3"/>
          <p:cNvSpPr/>
          <p:nvPr/>
        </p:nvSpPr>
        <p:spPr>
          <a:xfrm>
            <a:off x="640080" y="2286000"/>
            <a:ext cx="9601200" cy="1188720"/>
          </a:xfrm>
          <a:prstGeom prst="rect">
            <a:avLst/>
          </a:prstGeom>
          <a:noFill/>
        </p:spPr>
        <p:txBody>
          <a:bodyPr wrap="square"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Workforce &amp; Attrition Analytics 2024</a:t>
            </a:r>
            <a:endParaRPr lang="en-US" sz="4400" dirty="0"/>
          </a:p>
        </p:txBody>
      </p:sp>
      <p:sp>
        <p:nvSpPr>
          <p:cNvPr id="6" name="Text 4"/>
          <p:cNvSpPr/>
          <p:nvPr/>
        </p:nvSpPr>
        <p:spPr>
          <a:xfrm>
            <a:off x="640080" y="3429000"/>
            <a:ext cx="8686800" cy="640080"/>
          </a:xfrm>
          <a:prstGeom prst="rect">
            <a:avLst/>
          </a:prstGeom>
          <a:noFill/>
        </p:spPr>
        <p:txBody>
          <a:bodyPr wrap="square" rtlCol="0" anchor="ctr"/>
          <a:lstStyle/>
          <a:p>
            <a:pPr marL="0" indent="0">
              <a:buNone/>
            </a:pPr>
            <a:r>
              <a:rPr lang="en-US" sz="1600" dirty="0">
                <a:solidFill>
                  <a:srgbClr val="CADCFC"/>
                </a:solidFill>
                <a:latin typeface="Calibri" panose="020F0502020204030204" pitchFamily="34" charset="0"/>
                <a:ea typeface="Calibri" panose="020F0502020204030204" pitchFamily="34" charset="-122"/>
                <a:cs typeface="Calibri" panose="020F0502020204030204" pitchFamily="34" charset="-120"/>
              </a:rPr>
              <a:t>A data-driven review of headcount, pay, satisfaction, and turnover across 1,000 employees</a:t>
            </a:r>
            <a:endParaRPr lang="en-US" sz="1600" dirty="0"/>
          </a:p>
        </p:txBody>
      </p:sp>
      <p:sp>
        <p:nvSpPr>
          <p:cNvPr id="7" name="Text 5"/>
          <p:cNvSpPr/>
          <p:nvPr/>
        </p:nvSpPr>
        <p:spPr>
          <a:xfrm>
            <a:off x="640080" y="6126480"/>
            <a:ext cx="7315200" cy="365760"/>
          </a:xfrm>
          <a:prstGeom prst="rect">
            <a:avLst/>
          </a:prstGeom>
          <a:noFill/>
        </p:spPr>
        <p:txBody>
          <a:bodyPr wrap="square" rtlCol="0" anchor="ctr"/>
          <a:lstStyle/>
          <a:p>
            <a:pPr marL="0" indent="0">
              <a:buNone/>
            </a:pPr>
            <a:r>
              <a:rPr lang="en-US" sz="1200" dirty="0">
                <a:solidFill>
                  <a:srgbClr val="6B7C93"/>
                </a:solidFill>
                <a:latin typeface="Calibri" panose="020F0502020204030204" pitchFamily="34" charset="0"/>
                <a:ea typeface="Calibri" panose="020F0502020204030204" pitchFamily="34" charset="-122"/>
                <a:cs typeface="Calibri" panose="020F0502020204030204" pitchFamily="34" charset="-120"/>
              </a:rPr>
              <a:t>HR Analytics Report  •  July 2026</a:t>
            </a:r>
            <a:endParaRPr lang="en-US" sz="1200" dirty="0"/>
          </a:p>
        </p:txBody>
      </p:sp>
      <p:sp>
        <p:nvSpPr>
          <p:cNvPr id="8" name="Text 6"/>
          <p:cNvSpPr/>
          <p:nvPr/>
        </p:nvSpPr>
        <p:spPr>
          <a:xfrm>
            <a:off x="7955280" y="5581015"/>
            <a:ext cx="2652395" cy="1501775"/>
          </a:xfrm>
          <a:prstGeom prst="rect">
            <a:avLst/>
          </a:prstGeom>
          <a:noFill/>
        </p:spPr>
        <p:txBody>
          <a:bodyPr wrap="square" rtlCol="0" anchor="ctr"/>
          <a:lstStyle/>
          <a:p>
            <a:pPr marL="0" indent="0" algn="r">
              <a:buNone/>
            </a:pPr>
            <a:r>
              <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rPr>
              <a:t>Presented by  Joan Kamau</a:t>
            </a:r>
            <a:endPar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endParaRPr>
          </a:p>
          <a:p>
            <a:pPr marL="0" indent="0" algn="r">
              <a:buNone/>
            </a:pPr>
            <a:r>
              <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rPr>
              <a:t>+254742664775</a:t>
            </a:r>
            <a:endPar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endParaRPr>
          </a:p>
          <a:p>
            <a:pPr marL="0" indent="0" algn="r">
              <a:buNone/>
            </a:pPr>
            <a:r>
              <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rPr>
              <a:t>joan96kamau@gmail.com</a:t>
            </a:r>
            <a:endPar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endParaRPr>
          </a:p>
          <a:p>
            <a:pPr marL="0" indent="0" algn="r">
              <a:buNone/>
            </a:pPr>
            <a:endParaRPr lang="en-US" sz="1500" dirty="0">
              <a:solidFill>
                <a:schemeClr val="bg2">
                  <a:lumMod val="90000"/>
                </a:schemeClr>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548640"/>
            <a:ext cx="8229600" cy="640080"/>
          </a:xfrm>
          <a:prstGeom prst="rect">
            <a:avLst/>
          </a:prstGeom>
          <a:noFill/>
        </p:spPr>
        <p:txBody>
          <a:bodyPr wrap="square" rtlCol="0" anchor="ctr"/>
          <a:lstStyle/>
          <a:p>
            <a:pPr marL="0" indent="0">
              <a:buNone/>
            </a:pPr>
            <a:r>
              <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rPr>
              <a:t>Objectives</a:t>
            </a:r>
            <a:endParaRPr lang="en-US" sz="3200" dirty="0"/>
          </a:p>
        </p:txBody>
      </p:sp>
      <p:sp>
        <p:nvSpPr>
          <p:cNvPr id="3" name="Text 1"/>
          <p:cNvSpPr/>
          <p:nvPr/>
        </p:nvSpPr>
        <p:spPr>
          <a:xfrm>
            <a:off x="548640" y="1097280"/>
            <a:ext cx="9601200" cy="365760"/>
          </a:xfrm>
          <a:prstGeom prst="rect">
            <a:avLst/>
          </a:prstGeom>
          <a:noFill/>
        </p:spPr>
        <p:txBody>
          <a:bodyPr wrap="square" rtlCol="0" anchor="ctr"/>
          <a:lstStyle/>
          <a:p>
            <a:pPr marL="0" indent="0">
              <a:buNone/>
            </a:pPr>
            <a:r>
              <a:rPr lang="en-US" sz="1400" dirty="0">
                <a:solidFill>
                  <a:srgbClr val="6B7C93"/>
                </a:solidFill>
                <a:latin typeface="Calibri" panose="020F0502020204030204" pitchFamily="34" charset="0"/>
                <a:ea typeface="Calibri" panose="020F0502020204030204" pitchFamily="34" charset="-122"/>
                <a:cs typeface="Calibri" panose="020F0502020204030204" pitchFamily="34" charset="-120"/>
              </a:rPr>
              <a:t>What this analysis set out to answer</a:t>
            </a:r>
            <a:endParaRPr lang="en-US" sz="1400" dirty="0"/>
          </a:p>
        </p:txBody>
      </p:sp>
      <p:sp>
        <p:nvSpPr>
          <p:cNvPr id="4" name="Shape 2"/>
          <p:cNvSpPr/>
          <p:nvPr/>
        </p:nvSpPr>
        <p:spPr>
          <a:xfrm>
            <a:off x="548640" y="1874520"/>
            <a:ext cx="11064240" cy="960120"/>
          </a:xfrm>
          <a:prstGeom prst="roundRect">
            <a:avLst>
              <a:gd name="adj" fmla="val 6667"/>
            </a:avLst>
          </a:prstGeom>
          <a:solidFill>
            <a:srgbClr val="FFFFFF"/>
          </a:solidFill>
          <a:effectLst>
            <a:outerShdw blurRad="63500" dist="25400" dir="5400000" algn="bl" rotWithShape="0">
              <a:srgbClr val="1B2A4A">
                <a:alpha val="12000"/>
              </a:srgbClr>
            </a:outerShdw>
          </a:effectLst>
        </p:spPr>
      </p:sp>
      <p:sp>
        <p:nvSpPr>
          <p:cNvPr id="5" name="Text 3"/>
          <p:cNvSpPr/>
          <p:nvPr/>
        </p:nvSpPr>
        <p:spPr>
          <a:xfrm>
            <a:off x="777240" y="1874520"/>
            <a:ext cx="1005840" cy="960120"/>
          </a:xfrm>
          <a:prstGeom prst="rect">
            <a:avLst/>
          </a:prstGeom>
          <a:noFill/>
        </p:spPr>
        <p:txBody>
          <a:bodyPr wrap="square" rtlCol="0" anchor="ctr"/>
          <a:lstStyle/>
          <a:p>
            <a:pPr marL="0" indent="0">
              <a:buNone/>
            </a:pPr>
            <a:r>
              <a:rPr lang="en-US" sz="3000" b="1" dirty="0">
                <a:solidFill>
                  <a:srgbClr val="CADCFC"/>
                </a:solidFill>
                <a:latin typeface="Cambria" panose="02040503050406030204" pitchFamily="34" charset="0"/>
                <a:ea typeface="Cambria" panose="02040503050406030204" pitchFamily="34" charset="-122"/>
                <a:cs typeface="Cambria" panose="02040503050406030204" pitchFamily="34" charset="-120"/>
              </a:rPr>
              <a:t>01</a:t>
            </a:r>
            <a:endParaRPr lang="en-US" sz="3000" dirty="0"/>
          </a:p>
        </p:txBody>
      </p:sp>
      <p:sp>
        <p:nvSpPr>
          <p:cNvPr id="6" name="Text 4"/>
          <p:cNvSpPr/>
          <p:nvPr/>
        </p:nvSpPr>
        <p:spPr>
          <a:xfrm>
            <a:off x="1874520" y="2002536"/>
            <a:ext cx="9418320" cy="365760"/>
          </a:xfrm>
          <a:prstGeom prst="rect">
            <a:avLst/>
          </a:prstGeom>
          <a:noFill/>
        </p:spPr>
        <p:txBody>
          <a:bodyPr wrap="square"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Understand the workforce</a:t>
            </a:r>
            <a:endParaRPr lang="en-US" sz="1500" dirty="0"/>
          </a:p>
        </p:txBody>
      </p:sp>
      <p:sp>
        <p:nvSpPr>
          <p:cNvPr id="7" name="Text 5"/>
          <p:cNvSpPr/>
          <p:nvPr/>
        </p:nvSpPr>
        <p:spPr>
          <a:xfrm>
            <a:off x="1874520" y="2350008"/>
            <a:ext cx="9418320" cy="411480"/>
          </a:xfrm>
          <a:prstGeom prst="rect">
            <a:avLst/>
          </a:prstGeom>
          <a:noFill/>
        </p:spPr>
        <p:txBody>
          <a:bodyPr wrap="square" rtlCol="0" anchor="ctr"/>
          <a:lstStyle/>
          <a:p>
            <a:pPr marL="0" indent="0">
              <a:buNone/>
            </a:pPr>
            <a:r>
              <a:rPr lang="en-US" sz="1200" dirty="0">
                <a:solidFill>
                  <a:srgbClr val="6B7C93"/>
                </a:solidFill>
                <a:latin typeface="Calibri" panose="020F0502020204030204" pitchFamily="34" charset="0"/>
                <a:ea typeface="Calibri" panose="020F0502020204030204" pitchFamily="34" charset="-122"/>
                <a:cs typeface="Calibri" panose="020F0502020204030204" pitchFamily="34" charset="-120"/>
              </a:rPr>
              <a:t>Establish a clear baseline of headcount, pay, and demographic composition across departments.</a:t>
            </a:r>
            <a:endParaRPr lang="en-US" sz="1200" dirty="0"/>
          </a:p>
        </p:txBody>
      </p:sp>
      <p:sp>
        <p:nvSpPr>
          <p:cNvPr id="8" name="Shape 6"/>
          <p:cNvSpPr/>
          <p:nvPr/>
        </p:nvSpPr>
        <p:spPr>
          <a:xfrm>
            <a:off x="548640" y="3035808"/>
            <a:ext cx="11064240" cy="960120"/>
          </a:xfrm>
          <a:prstGeom prst="roundRect">
            <a:avLst>
              <a:gd name="adj" fmla="val 6667"/>
            </a:avLst>
          </a:prstGeom>
          <a:solidFill>
            <a:srgbClr val="FFFFFF"/>
          </a:solidFill>
          <a:effectLst>
            <a:outerShdw blurRad="63500" dist="25400" dir="5400000" algn="bl" rotWithShape="0">
              <a:srgbClr val="1B2A4A">
                <a:alpha val="12000"/>
              </a:srgbClr>
            </a:outerShdw>
          </a:effectLst>
        </p:spPr>
      </p:sp>
      <p:sp>
        <p:nvSpPr>
          <p:cNvPr id="9" name="Text 7"/>
          <p:cNvSpPr/>
          <p:nvPr/>
        </p:nvSpPr>
        <p:spPr>
          <a:xfrm>
            <a:off x="777240" y="3035808"/>
            <a:ext cx="1005840" cy="960120"/>
          </a:xfrm>
          <a:prstGeom prst="rect">
            <a:avLst/>
          </a:prstGeom>
          <a:noFill/>
        </p:spPr>
        <p:txBody>
          <a:bodyPr wrap="square" rtlCol="0" anchor="ctr"/>
          <a:lstStyle/>
          <a:p>
            <a:pPr marL="0" indent="0">
              <a:buNone/>
            </a:pPr>
            <a:r>
              <a:rPr lang="en-US" sz="3000" b="1" dirty="0">
                <a:solidFill>
                  <a:srgbClr val="CADCFC"/>
                </a:solidFill>
                <a:latin typeface="Cambria" panose="02040503050406030204" pitchFamily="34" charset="0"/>
                <a:ea typeface="Cambria" panose="02040503050406030204" pitchFamily="34" charset="-122"/>
                <a:cs typeface="Cambria" panose="02040503050406030204" pitchFamily="34" charset="-120"/>
              </a:rPr>
              <a:t>02</a:t>
            </a:r>
            <a:endParaRPr lang="en-US" sz="3000" dirty="0"/>
          </a:p>
        </p:txBody>
      </p:sp>
      <p:sp>
        <p:nvSpPr>
          <p:cNvPr id="10" name="Text 8"/>
          <p:cNvSpPr/>
          <p:nvPr/>
        </p:nvSpPr>
        <p:spPr>
          <a:xfrm>
            <a:off x="1874520" y="3163824"/>
            <a:ext cx="9418320" cy="365760"/>
          </a:xfrm>
          <a:prstGeom prst="rect">
            <a:avLst/>
          </a:prstGeom>
          <a:noFill/>
        </p:spPr>
        <p:txBody>
          <a:bodyPr wrap="square"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Quantify attrition</a:t>
            </a:r>
            <a:endParaRPr lang="en-US" sz="1500" dirty="0"/>
          </a:p>
        </p:txBody>
      </p:sp>
      <p:sp>
        <p:nvSpPr>
          <p:cNvPr id="11" name="Text 9"/>
          <p:cNvSpPr/>
          <p:nvPr/>
        </p:nvSpPr>
        <p:spPr>
          <a:xfrm>
            <a:off x="1874520" y="3511296"/>
            <a:ext cx="9418320" cy="411480"/>
          </a:xfrm>
          <a:prstGeom prst="rect">
            <a:avLst/>
          </a:prstGeom>
          <a:noFill/>
        </p:spPr>
        <p:txBody>
          <a:bodyPr wrap="square" rtlCol="0" anchor="ctr"/>
          <a:lstStyle/>
          <a:p>
            <a:pPr marL="0" indent="0">
              <a:buNone/>
            </a:pPr>
            <a:r>
              <a:rPr lang="en-US" sz="1200" dirty="0">
                <a:solidFill>
                  <a:srgbClr val="6B7C93"/>
                </a:solidFill>
                <a:latin typeface="Calibri" panose="020F0502020204030204" pitchFamily="34" charset="0"/>
                <a:ea typeface="Calibri" panose="020F0502020204030204" pitchFamily="34" charset="-122"/>
                <a:cs typeface="Calibri" panose="020F0502020204030204" pitchFamily="34" charset="-120"/>
              </a:rPr>
              <a:t>Measure overall and department-level attrition to see where turnover is concentrated.</a:t>
            </a:r>
            <a:endParaRPr lang="en-US" sz="1200" dirty="0"/>
          </a:p>
        </p:txBody>
      </p:sp>
      <p:sp>
        <p:nvSpPr>
          <p:cNvPr id="12" name="Shape 10"/>
          <p:cNvSpPr/>
          <p:nvPr/>
        </p:nvSpPr>
        <p:spPr>
          <a:xfrm>
            <a:off x="548640" y="4197096"/>
            <a:ext cx="11064240" cy="960120"/>
          </a:xfrm>
          <a:prstGeom prst="roundRect">
            <a:avLst>
              <a:gd name="adj" fmla="val 6667"/>
            </a:avLst>
          </a:prstGeom>
          <a:solidFill>
            <a:srgbClr val="FFFFFF"/>
          </a:solidFill>
          <a:effectLst>
            <a:outerShdw blurRad="63500" dist="25400" dir="5400000" algn="bl" rotWithShape="0">
              <a:srgbClr val="1B2A4A">
                <a:alpha val="12000"/>
              </a:srgbClr>
            </a:outerShdw>
          </a:effectLst>
        </p:spPr>
      </p:sp>
      <p:sp>
        <p:nvSpPr>
          <p:cNvPr id="13" name="Text 11"/>
          <p:cNvSpPr/>
          <p:nvPr/>
        </p:nvSpPr>
        <p:spPr>
          <a:xfrm>
            <a:off x="777240" y="4197096"/>
            <a:ext cx="1005840" cy="960120"/>
          </a:xfrm>
          <a:prstGeom prst="rect">
            <a:avLst/>
          </a:prstGeom>
          <a:noFill/>
        </p:spPr>
        <p:txBody>
          <a:bodyPr wrap="square" rtlCol="0" anchor="ctr"/>
          <a:lstStyle/>
          <a:p>
            <a:pPr marL="0" indent="0">
              <a:buNone/>
            </a:pPr>
            <a:r>
              <a:rPr lang="en-US" sz="3000" b="1" dirty="0">
                <a:solidFill>
                  <a:srgbClr val="CADCFC"/>
                </a:solidFill>
                <a:latin typeface="Cambria" panose="02040503050406030204" pitchFamily="34" charset="0"/>
                <a:ea typeface="Cambria" panose="02040503050406030204" pitchFamily="34" charset="-122"/>
                <a:cs typeface="Cambria" panose="02040503050406030204" pitchFamily="34" charset="-120"/>
              </a:rPr>
              <a:t>03</a:t>
            </a:r>
            <a:endParaRPr lang="en-US" sz="3000" dirty="0"/>
          </a:p>
        </p:txBody>
      </p:sp>
      <p:sp>
        <p:nvSpPr>
          <p:cNvPr id="14" name="Text 12"/>
          <p:cNvSpPr/>
          <p:nvPr/>
        </p:nvSpPr>
        <p:spPr>
          <a:xfrm>
            <a:off x="1874520" y="4325112"/>
            <a:ext cx="9418320" cy="365760"/>
          </a:xfrm>
          <a:prstGeom prst="rect">
            <a:avLst/>
          </a:prstGeom>
          <a:noFill/>
        </p:spPr>
        <p:txBody>
          <a:bodyPr wrap="square"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Identify the real drivers</a:t>
            </a:r>
            <a:endParaRPr lang="en-US" sz="1500" dirty="0"/>
          </a:p>
        </p:txBody>
      </p:sp>
      <p:sp>
        <p:nvSpPr>
          <p:cNvPr id="15" name="Text 13"/>
          <p:cNvSpPr/>
          <p:nvPr/>
        </p:nvSpPr>
        <p:spPr>
          <a:xfrm>
            <a:off x="1874520" y="4672584"/>
            <a:ext cx="9418320" cy="411480"/>
          </a:xfrm>
          <a:prstGeom prst="rect">
            <a:avLst/>
          </a:prstGeom>
          <a:noFill/>
        </p:spPr>
        <p:txBody>
          <a:bodyPr wrap="square" rtlCol="0" anchor="ctr"/>
          <a:lstStyle/>
          <a:p>
            <a:pPr marL="0" indent="0">
              <a:buNone/>
            </a:pPr>
            <a:r>
              <a:rPr lang="en-US" sz="1200" dirty="0">
                <a:solidFill>
                  <a:srgbClr val="6B7C93"/>
                </a:solidFill>
                <a:latin typeface="Calibri" panose="020F0502020204030204" pitchFamily="34" charset="0"/>
                <a:ea typeface="Calibri" panose="020F0502020204030204" pitchFamily="34" charset="-122"/>
                <a:cs typeface="Calibri" panose="020F0502020204030204" pitchFamily="34" charset="-120"/>
              </a:rPr>
              <a:t>Test job satisfaction, age, tenure, and employment status to find what actually predicts an employee leaving.</a:t>
            </a:r>
            <a:endParaRPr lang="en-US" sz="1200" dirty="0"/>
          </a:p>
        </p:txBody>
      </p:sp>
      <p:sp>
        <p:nvSpPr>
          <p:cNvPr id="16" name="Shape 14"/>
          <p:cNvSpPr/>
          <p:nvPr/>
        </p:nvSpPr>
        <p:spPr>
          <a:xfrm>
            <a:off x="548640" y="5358384"/>
            <a:ext cx="11064240" cy="960120"/>
          </a:xfrm>
          <a:prstGeom prst="roundRect">
            <a:avLst>
              <a:gd name="adj" fmla="val 6667"/>
            </a:avLst>
          </a:prstGeom>
          <a:solidFill>
            <a:srgbClr val="FFFFFF"/>
          </a:solidFill>
          <a:effectLst>
            <a:outerShdw blurRad="63500" dist="25400" dir="5400000" algn="bl" rotWithShape="0">
              <a:srgbClr val="1B2A4A">
                <a:alpha val="12000"/>
              </a:srgbClr>
            </a:outerShdw>
          </a:effectLst>
        </p:spPr>
      </p:sp>
      <p:sp>
        <p:nvSpPr>
          <p:cNvPr id="17" name="Text 15"/>
          <p:cNvSpPr/>
          <p:nvPr/>
        </p:nvSpPr>
        <p:spPr>
          <a:xfrm>
            <a:off x="777240" y="5358384"/>
            <a:ext cx="1005840" cy="960120"/>
          </a:xfrm>
          <a:prstGeom prst="rect">
            <a:avLst/>
          </a:prstGeom>
          <a:noFill/>
        </p:spPr>
        <p:txBody>
          <a:bodyPr wrap="square" rtlCol="0" anchor="ctr"/>
          <a:lstStyle/>
          <a:p>
            <a:pPr marL="0" indent="0">
              <a:buNone/>
            </a:pPr>
            <a:r>
              <a:rPr lang="en-US" sz="3000" b="1" dirty="0">
                <a:solidFill>
                  <a:srgbClr val="CADCFC"/>
                </a:solidFill>
                <a:latin typeface="Cambria" panose="02040503050406030204" pitchFamily="34" charset="0"/>
                <a:ea typeface="Cambria" panose="02040503050406030204" pitchFamily="34" charset="-122"/>
                <a:cs typeface="Cambria" panose="02040503050406030204" pitchFamily="34" charset="-120"/>
              </a:rPr>
              <a:t>04</a:t>
            </a:r>
            <a:endParaRPr lang="en-US" sz="3000" dirty="0"/>
          </a:p>
        </p:txBody>
      </p:sp>
      <p:sp>
        <p:nvSpPr>
          <p:cNvPr id="18" name="Text 16"/>
          <p:cNvSpPr/>
          <p:nvPr/>
        </p:nvSpPr>
        <p:spPr>
          <a:xfrm>
            <a:off x="1874520" y="5486400"/>
            <a:ext cx="9418320" cy="365760"/>
          </a:xfrm>
          <a:prstGeom prst="rect">
            <a:avLst/>
          </a:prstGeom>
          <a:noFill/>
        </p:spPr>
        <p:txBody>
          <a:bodyPr wrap="square"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Recommend targeted action</a:t>
            </a:r>
            <a:endParaRPr lang="en-US" sz="1500" dirty="0"/>
          </a:p>
        </p:txBody>
      </p:sp>
      <p:sp>
        <p:nvSpPr>
          <p:cNvPr id="19" name="Text 17"/>
          <p:cNvSpPr/>
          <p:nvPr/>
        </p:nvSpPr>
        <p:spPr>
          <a:xfrm>
            <a:off x="1874520" y="5833872"/>
            <a:ext cx="9418320" cy="411480"/>
          </a:xfrm>
          <a:prstGeom prst="rect">
            <a:avLst/>
          </a:prstGeom>
          <a:noFill/>
        </p:spPr>
        <p:txBody>
          <a:bodyPr wrap="square" rtlCol="0" anchor="ctr"/>
          <a:lstStyle/>
          <a:p>
            <a:pPr marL="0" indent="0">
              <a:buNone/>
            </a:pPr>
            <a:r>
              <a:rPr lang="en-US" sz="1200" dirty="0">
                <a:solidFill>
                  <a:srgbClr val="6B7C93"/>
                </a:solidFill>
                <a:latin typeface="Calibri" panose="020F0502020204030204" pitchFamily="34" charset="0"/>
                <a:ea typeface="Calibri" panose="020F0502020204030204" pitchFamily="34" charset="-122"/>
                <a:cs typeface="Calibri" panose="020F0502020204030204" pitchFamily="34" charset="-120"/>
              </a:rPr>
              <a:t>Translate findings into specific, data-backed initiatives leadership can act on right away.</a:t>
            </a:r>
            <a:endParaRPr lang="en-US" sz="1200" dirty="0"/>
          </a:p>
        </p:txBody>
      </p:sp>
      <p:sp>
        <p:nvSpPr>
          <p:cNvPr id="21" name="Text 18"/>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22" name="Text 19"/>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p:spPr>
        <p:txBody>
          <a:bodyPr wrap="square" rtlCol="0" anchor="ctr"/>
          <a:lstStyle/>
          <a:p>
            <a:pPr marL="0" indent="0">
              <a:buNone/>
            </a:pPr>
            <a:r>
              <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rPr>
              <a:t>Workforce Overview</a:t>
            </a:r>
            <a:endParaRPr lang="en-US" sz="3200" dirty="0"/>
          </a:p>
        </p:txBody>
      </p:sp>
      <p:sp>
        <p:nvSpPr>
          <p:cNvPr id="3" name="Text 1"/>
          <p:cNvSpPr/>
          <p:nvPr/>
        </p:nvSpPr>
        <p:spPr>
          <a:xfrm>
            <a:off x="548640" y="960120"/>
            <a:ext cx="9601200" cy="365760"/>
          </a:xfrm>
          <a:prstGeom prst="rect">
            <a:avLst/>
          </a:prstGeom>
          <a:noFill/>
        </p:spPr>
        <p:txBody>
          <a:bodyPr wrap="square" rtlCol="0" anchor="ctr"/>
          <a:lstStyle/>
          <a:p>
            <a:pPr marL="0" indent="0">
              <a:buNone/>
            </a:pPr>
            <a:r>
              <a:rPr lang="en-US" sz="1400" dirty="0">
                <a:solidFill>
                  <a:srgbClr val="6B7C93"/>
                </a:solidFill>
                <a:latin typeface="Calibri" panose="020F0502020204030204" pitchFamily="34" charset="0"/>
                <a:ea typeface="Calibri" panose="020F0502020204030204" pitchFamily="34" charset="-122"/>
                <a:cs typeface="Calibri" panose="020F0502020204030204" pitchFamily="34" charset="-120"/>
              </a:rPr>
              <a:t>1,000 employees across five departments, with a broadly balanced workforce</a:t>
            </a:r>
            <a:endParaRPr lang="en-US" sz="1400" dirty="0"/>
          </a:p>
        </p:txBody>
      </p:sp>
      <p:sp>
        <p:nvSpPr>
          <p:cNvPr id="4" name="Shape 2"/>
          <p:cNvSpPr/>
          <p:nvPr/>
        </p:nvSpPr>
        <p:spPr>
          <a:xfrm>
            <a:off x="548640" y="1600200"/>
            <a:ext cx="2331720" cy="1554480"/>
          </a:xfrm>
          <a:prstGeom prst="roundRect">
            <a:avLst>
              <a:gd name="adj" fmla="val 4706"/>
            </a:avLst>
          </a:prstGeom>
          <a:solidFill>
            <a:srgbClr val="FFFFFF"/>
          </a:solidFill>
          <a:effectLst>
            <a:outerShdw blurRad="76200" dist="25400" dir="5400000" algn="bl" rotWithShape="0">
              <a:srgbClr val="1B2A4A">
                <a:alpha val="15000"/>
              </a:srgbClr>
            </a:outerShdw>
          </a:effectLst>
        </p:spPr>
      </p:sp>
      <p:sp>
        <p:nvSpPr>
          <p:cNvPr id="5" name="Text 3"/>
          <p:cNvSpPr/>
          <p:nvPr/>
        </p:nvSpPr>
        <p:spPr>
          <a:xfrm>
            <a:off x="640080" y="1828800"/>
            <a:ext cx="2148840" cy="594360"/>
          </a:xfrm>
          <a:prstGeom prst="rect">
            <a:avLst/>
          </a:prstGeom>
          <a:noFill/>
        </p:spPr>
        <p:txBody>
          <a:bodyPr wrap="square" rtlCol="0" anchor="ctr"/>
          <a:lstStyle/>
          <a:p>
            <a:pPr marL="0" indent="0" algn="ctr">
              <a:buNone/>
            </a:pPr>
            <a:r>
              <a:rPr lang="en-US" sz="3000" b="1" dirty="0">
                <a:solidFill>
                  <a:srgbClr val="1C7293"/>
                </a:solidFill>
                <a:latin typeface="Cambria" panose="02040503050406030204" pitchFamily="34" charset="0"/>
                <a:ea typeface="Cambria" panose="02040503050406030204" pitchFamily="34" charset="-122"/>
                <a:cs typeface="Cambria" panose="02040503050406030204" pitchFamily="34" charset="-120"/>
              </a:rPr>
              <a:t>1,000</a:t>
            </a:r>
            <a:endParaRPr lang="en-US" sz="3000" dirty="0"/>
          </a:p>
        </p:txBody>
      </p:sp>
      <p:sp>
        <p:nvSpPr>
          <p:cNvPr id="6" name="Text 4"/>
          <p:cNvSpPr/>
          <p:nvPr/>
        </p:nvSpPr>
        <p:spPr>
          <a:xfrm>
            <a:off x="640080" y="2468880"/>
            <a:ext cx="2148840" cy="548640"/>
          </a:xfrm>
          <a:prstGeom prst="rect">
            <a:avLst/>
          </a:prstGeom>
          <a:noFill/>
        </p:spPr>
        <p:txBody>
          <a:bodyPr wrap="square" rtlCol="0" anchor="ctr"/>
          <a:lstStyle/>
          <a:p>
            <a:pPr marL="0" indent="0" algn="ctr">
              <a:buNone/>
            </a:pPr>
            <a:r>
              <a:rPr lang="en-US" sz="1200" dirty="0">
                <a:solidFill>
                  <a:srgbClr val="1B2A4A"/>
                </a:solidFill>
                <a:latin typeface="Calibri" panose="020F0502020204030204" pitchFamily="34" charset="0"/>
                <a:ea typeface="Calibri" panose="020F0502020204030204" pitchFamily="34" charset="-122"/>
                <a:cs typeface="Calibri" panose="020F0502020204030204" pitchFamily="34" charset="-120"/>
              </a:rPr>
              <a:t>Total Employees</a:t>
            </a:r>
            <a:endParaRPr lang="en-US" sz="1200" dirty="0"/>
          </a:p>
        </p:txBody>
      </p:sp>
      <p:sp>
        <p:nvSpPr>
          <p:cNvPr id="7" name="Shape 5"/>
          <p:cNvSpPr/>
          <p:nvPr/>
        </p:nvSpPr>
        <p:spPr>
          <a:xfrm>
            <a:off x="3108960" y="1600200"/>
            <a:ext cx="2331720" cy="1554480"/>
          </a:xfrm>
          <a:prstGeom prst="roundRect">
            <a:avLst>
              <a:gd name="adj" fmla="val 4706"/>
            </a:avLst>
          </a:prstGeom>
          <a:solidFill>
            <a:srgbClr val="FFFFFF"/>
          </a:solidFill>
          <a:effectLst>
            <a:outerShdw blurRad="76200" dist="25400" dir="5400000" algn="bl" rotWithShape="0">
              <a:srgbClr val="1B2A4A">
                <a:alpha val="15000"/>
              </a:srgbClr>
            </a:outerShdw>
          </a:effectLst>
        </p:spPr>
      </p:sp>
      <p:sp>
        <p:nvSpPr>
          <p:cNvPr id="8" name="Text 6"/>
          <p:cNvSpPr/>
          <p:nvPr/>
        </p:nvSpPr>
        <p:spPr>
          <a:xfrm>
            <a:off x="3200400" y="1828800"/>
            <a:ext cx="2148840" cy="594360"/>
          </a:xfrm>
          <a:prstGeom prst="rect">
            <a:avLst/>
          </a:prstGeom>
          <a:noFill/>
        </p:spPr>
        <p:txBody>
          <a:bodyPr wrap="square" rtlCol="0" anchor="ctr"/>
          <a:lstStyle/>
          <a:p>
            <a:pPr marL="0" indent="0" algn="ctr">
              <a:buNone/>
            </a:pPr>
            <a:r>
              <a:rPr lang="en-US" sz="3000" b="1" dirty="0">
                <a:solidFill>
                  <a:srgbClr val="1C7293"/>
                </a:solidFill>
                <a:latin typeface="Cambria" panose="02040503050406030204" pitchFamily="34" charset="0"/>
                <a:ea typeface="Cambria" panose="02040503050406030204" pitchFamily="34" charset="-122"/>
                <a:cs typeface="Cambria" panose="02040503050406030204" pitchFamily="34" charset="-120"/>
              </a:rPr>
              <a:t>$60,209</a:t>
            </a:r>
            <a:endParaRPr lang="en-US" sz="3000" dirty="0"/>
          </a:p>
        </p:txBody>
      </p:sp>
      <p:sp>
        <p:nvSpPr>
          <p:cNvPr id="9" name="Text 7"/>
          <p:cNvSpPr/>
          <p:nvPr/>
        </p:nvSpPr>
        <p:spPr>
          <a:xfrm>
            <a:off x="3200400" y="2468880"/>
            <a:ext cx="2148840" cy="548640"/>
          </a:xfrm>
          <a:prstGeom prst="rect">
            <a:avLst/>
          </a:prstGeom>
          <a:noFill/>
        </p:spPr>
        <p:txBody>
          <a:bodyPr wrap="square" rtlCol="0" anchor="ctr"/>
          <a:lstStyle/>
          <a:p>
            <a:pPr marL="0" indent="0" algn="ctr">
              <a:buNone/>
            </a:pPr>
            <a:r>
              <a:rPr lang="en-US" sz="1200" dirty="0">
                <a:solidFill>
                  <a:srgbClr val="1B2A4A"/>
                </a:solidFill>
                <a:latin typeface="Calibri" panose="020F0502020204030204" pitchFamily="34" charset="0"/>
                <a:ea typeface="Calibri" panose="020F0502020204030204" pitchFamily="34" charset="-122"/>
                <a:cs typeface="Calibri" panose="020F0502020204030204" pitchFamily="34" charset="-120"/>
              </a:rPr>
              <a:t>Average Salary</a:t>
            </a:r>
            <a:endParaRPr lang="en-US" sz="1200" dirty="0"/>
          </a:p>
        </p:txBody>
      </p:sp>
      <p:sp>
        <p:nvSpPr>
          <p:cNvPr id="10" name="Shape 8"/>
          <p:cNvSpPr/>
          <p:nvPr/>
        </p:nvSpPr>
        <p:spPr>
          <a:xfrm>
            <a:off x="5669280" y="1600200"/>
            <a:ext cx="2331720" cy="1554480"/>
          </a:xfrm>
          <a:prstGeom prst="roundRect">
            <a:avLst>
              <a:gd name="adj" fmla="val 4706"/>
            </a:avLst>
          </a:prstGeom>
          <a:solidFill>
            <a:srgbClr val="FFFFFF"/>
          </a:solidFill>
          <a:effectLst>
            <a:outerShdw blurRad="76200" dist="25400" dir="5400000" algn="bl" rotWithShape="0">
              <a:srgbClr val="1B2A4A">
                <a:alpha val="15000"/>
              </a:srgbClr>
            </a:outerShdw>
          </a:effectLst>
        </p:spPr>
      </p:sp>
      <p:sp>
        <p:nvSpPr>
          <p:cNvPr id="11" name="Text 9"/>
          <p:cNvSpPr/>
          <p:nvPr/>
        </p:nvSpPr>
        <p:spPr>
          <a:xfrm>
            <a:off x="5760720" y="1828800"/>
            <a:ext cx="2148840" cy="594360"/>
          </a:xfrm>
          <a:prstGeom prst="rect">
            <a:avLst/>
          </a:prstGeom>
          <a:noFill/>
        </p:spPr>
        <p:txBody>
          <a:bodyPr wrap="square" rtlCol="0" anchor="ctr"/>
          <a:lstStyle/>
          <a:p>
            <a:pPr marL="0" indent="0" algn="ctr">
              <a:buNone/>
            </a:pPr>
            <a:r>
              <a:rPr lang="en-US" sz="2200" b="1" dirty="0">
                <a:solidFill>
                  <a:srgbClr val="1C7293"/>
                </a:solidFill>
                <a:latin typeface="Cambria" panose="02040503050406030204" pitchFamily="34" charset="0"/>
                <a:ea typeface="Cambria" panose="02040503050406030204" pitchFamily="34" charset="-122"/>
                <a:cs typeface="Cambria" panose="02040503050406030204" pitchFamily="34" charset="-120"/>
              </a:rPr>
              <a:t>49.3% / 50.7%</a:t>
            </a:r>
            <a:endParaRPr lang="en-US" sz="2200" dirty="0"/>
          </a:p>
        </p:txBody>
      </p:sp>
      <p:sp>
        <p:nvSpPr>
          <p:cNvPr id="12" name="Text 10"/>
          <p:cNvSpPr/>
          <p:nvPr/>
        </p:nvSpPr>
        <p:spPr>
          <a:xfrm>
            <a:off x="5760720" y="2468880"/>
            <a:ext cx="2148840" cy="548640"/>
          </a:xfrm>
          <a:prstGeom prst="rect">
            <a:avLst/>
          </a:prstGeom>
          <a:noFill/>
        </p:spPr>
        <p:txBody>
          <a:bodyPr wrap="square" rtlCol="0" anchor="ctr"/>
          <a:lstStyle/>
          <a:p>
            <a:pPr marL="0" indent="0" algn="ctr">
              <a:buNone/>
            </a:pPr>
            <a:r>
              <a:rPr lang="en-US" sz="1200" dirty="0">
                <a:solidFill>
                  <a:srgbClr val="1B2A4A"/>
                </a:solidFill>
                <a:latin typeface="Calibri" panose="020F0502020204030204" pitchFamily="34" charset="0"/>
                <a:ea typeface="Calibri" panose="020F0502020204030204" pitchFamily="34" charset="-122"/>
                <a:cs typeface="Calibri" panose="020F0502020204030204" pitchFamily="34" charset="-120"/>
              </a:rPr>
              <a:t>Female / Male Split</a:t>
            </a:r>
            <a:endParaRPr lang="en-US" sz="1200" dirty="0"/>
          </a:p>
        </p:txBody>
      </p:sp>
      <p:sp>
        <p:nvSpPr>
          <p:cNvPr id="13" name="Shape 11"/>
          <p:cNvSpPr/>
          <p:nvPr/>
        </p:nvSpPr>
        <p:spPr>
          <a:xfrm>
            <a:off x="8229600" y="1600200"/>
            <a:ext cx="2331720" cy="1554480"/>
          </a:xfrm>
          <a:prstGeom prst="roundRect">
            <a:avLst>
              <a:gd name="adj" fmla="val 4706"/>
            </a:avLst>
          </a:prstGeom>
          <a:solidFill>
            <a:srgbClr val="FFFFFF"/>
          </a:solidFill>
          <a:effectLst>
            <a:outerShdw blurRad="76200" dist="25400" dir="5400000" algn="bl" rotWithShape="0">
              <a:srgbClr val="1B2A4A">
                <a:alpha val="15000"/>
              </a:srgbClr>
            </a:outerShdw>
          </a:effectLst>
        </p:spPr>
      </p:sp>
      <p:sp>
        <p:nvSpPr>
          <p:cNvPr id="14" name="Text 12"/>
          <p:cNvSpPr/>
          <p:nvPr/>
        </p:nvSpPr>
        <p:spPr>
          <a:xfrm>
            <a:off x="8321040" y="1828800"/>
            <a:ext cx="2148840" cy="594360"/>
          </a:xfrm>
          <a:prstGeom prst="rect">
            <a:avLst/>
          </a:prstGeom>
          <a:noFill/>
        </p:spPr>
        <p:txBody>
          <a:bodyPr wrap="square" rtlCol="0" anchor="ctr"/>
          <a:lstStyle/>
          <a:p>
            <a:pPr marL="0" indent="0" algn="ctr">
              <a:buNone/>
            </a:pPr>
            <a:r>
              <a:rPr lang="en-US" sz="3000" b="1" dirty="0">
                <a:solidFill>
                  <a:srgbClr val="1C7293"/>
                </a:solidFill>
                <a:latin typeface="Cambria" panose="02040503050406030204" pitchFamily="34" charset="0"/>
                <a:ea typeface="Cambria" panose="02040503050406030204" pitchFamily="34" charset="-122"/>
                <a:cs typeface="Cambria" panose="02040503050406030204" pitchFamily="34" charset="-120"/>
              </a:rPr>
              <a:t>39.2%</a:t>
            </a:r>
            <a:endParaRPr lang="en-US" sz="3000" dirty="0"/>
          </a:p>
        </p:txBody>
      </p:sp>
      <p:sp>
        <p:nvSpPr>
          <p:cNvPr id="15" name="Text 13"/>
          <p:cNvSpPr/>
          <p:nvPr/>
        </p:nvSpPr>
        <p:spPr>
          <a:xfrm>
            <a:off x="8321040" y="2468880"/>
            <a:ext cx="2148840" cy="548640"/>
          </a:xfrm>
          <a:prstGeom prst="rect">
            <a:avLst/>
          </a:prstGeom>
          <a:noFill/>
        </p:spPr>
        <p:txBody>
          <a:bodyPr wrap="square" rtlCol="0" anchor="ctr"/>
          <a:lstStyle/>
          <a:p>
            <a:pPr marL="0" indent="0" algn="ctr">
              <a:buNone/>
            </a:pPr>
            <a:r>
              <a:rPr lang="en-US" sz="1200" dirty="0">
                <a:solidFill>
                  <a:srgbClr val="1B2A4A"/>
                </a:solidFill>
                <a:latin typeface="Calibri" panose="020F0502020204030204" pitchFamily="34" charset="0"/>
                <a:ea typeface="Calibri" panose="020F0502020204030204" pitchFamily="34" charset="-122"/>
                <a:cs typeface="Calibri" panose="020F0502020204030204" pitchFamily="34" charset="-120"/>
              </a:rPr>
              <a:t>Overall Attrition Rate</a:t>
            </a:r>
            <a:endParaRPr lang="en-US" sz="1200" dirty="0"/>
          </a:p>
        </p:txBody>
      </p:sp>
      <p:sp>
        <p:nvSpPr>
          <p:cNvPr id="16" name="Text 14"/>
          <p:cNvSpPr/>
          <p:nvPr/>
        </p:nvSpPr>
        <p:spPr>
          <a:xfrm>
            <a:off x="548640" y="3429000"/>
            <a:ext cx="5486400" cy="365760"/>
          </a:xfrm>
          <a:prstGeom prst="rect">
            <a:avLst/>
          </a:prstGeom>
          <a:noFill/>
        </p:spPr>
        <p:txBody>
          <a:bodyPr wrap="square"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Headcount by Department</a:t>
            </a:r>
            <a:endParaRPr lang="en-US" sz="1400" dirty="0"/>
          </a:p>
        </p:txBody>
      </p:sp>
      <p:graphicFrame>
        <p:nvGraphicFramePr>
          <p:cNvPr id="17" name="Chart 0"/>
          <p:cNvGraphicFramePr/>
          <p:nvPr/>
        </p:nvGraphicFramePr>
        <p:xfrm>
          <a:off x="457200" y="3794760"/>
          <a:ext cx="5486400" cy="2651760"/>
        </p:xfrm>
        <a:graphic>
          <a:graphicData uri="http://schemas.openxmlformats.org/drawingml/2006/chart">
            <c:chart xmlns:c="http://schemas.openxmlformats.org/drawingml/2006/chart" xmlns:r="http://schemas.openxmlformats.org/officeDocument/2006/relationships" r:id="rId1"/>
          </a:graphicData>
        </a:graphic>
      </p:graphicFrame>
      <p:sp>
        <p:nvSpPr>
          <p:cNvPr id="18" name="Text 15"/>
          <p:cNvSpPr/>
          <p:nvPr/>
        </p:nvSpPr>
        <p:spPr>
          <a:xfrm>
            <a:off x="6309360" y="3429000"/>
            <a:ext cx="5486400" cy="365760"/>
          </a:xfrm>
          <a:prstGeom prst="rect">
            <a:avLst/>
          </a:prstGeom>
          <a:noFill/>
        </p:spPr>
        <p:txBody>
          <a:bodyPr wrap="square"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Average Salary by Department (USD)</a:t>
            </a:r>
            <a:endParaRPr lang="en-US" sz="1400" dirty="0"/>
          </a:p>
        </p:txBody>
      </p:sp>
      <p:graphicFrame>
        <p:nvGraphicFramePr>
          <p:cNvPr id="19" name="Chart 1"/>
          <p:cNvGraphicFramePr/>
          <p:nvPr/>
        </p:nvGraphicFramePr>
        <p:xfrm>
          <a:off x="6217920" y="3794760"/>
          <a:ext cx="5486400" cy="2651760"/>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 16"/>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22" name="Text 17"/>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p:spPr>
        <p:txBody>
          <a:bodyPr wrap="square" rtlCol="0" anchor="ctr"/>
          <a:lstStyle/>
          <a:p>
            <a:pPr marL="0" indent="0">
              <a:buNone/>
            </a:pPr>
            <a:r>
              <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rPr>
              <a:t>Attrition Varies by Department</a:t>
            </a:r>
            <a:endParaRPr lang="en-US" sz="3200" dirty="0"/>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sz="1400" dirty="0">
                <a:solidFill>
                  <a:srgbClr val="6B7C93"/>
                </a:solidFill>
                <a:latin typeface="Calibri" panose="020F0502020204030204" pitchFamily="34" charset="0"/>
                <a:ea typeface="Calibri" panose="020F0502020204030204" pitchFamily="34" charset="-122"/>
                <a:cs typeface="Calibri" panose="020F0502020204030204" pitchFamily="34" charset="-120"/>
              </a:rPr>
              <a:t>Marketing has the highest attrition rate; HR has the lowest — but the spread is modest</a:t>
            </a:r>
            <a:endParaRPr lang="en-US" sz="1400" dirty="0"/>
          </a:p>
        </p:txBody>
      </p:sp>
      <p:graphicFrame>
        <p:nvGraphicFramePr>
          <p:cNvPr id="4" name="Chart 0"/>
          <p:cNvGraphicFramePr/>
          <p:nvPr/>
        </p:nvGraphicFramePr>
        <p:xfrm>
          <a:off x="548640" y="1554480"/>
          <a:ext cx="6949440" cy="429768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818120" y="1554480"/>
            <a:ext cx="3840480" cy="4297680"/>
          </a:xfrm>
          <a:prstGeom prst="roundRect">
            <a:avLst>
              <a:gd name="adj" fmla="val 1905"/>
            </a:avLst>
          </a:prstGeom>
          <a:solidFill>
            <a:srgbClr val="1B2A4A"/>
          </a:solidFill>
        </p:spPr>
      </p:sp>
      <p:sp>
        <p:nvSpPr>
          <p:cNvPr id="6" name="Text 3"/>
          <p:cNvSpPr/>
          <p:nvPr/>
        </p:nvSpPr>
        <p:spPr>
          <a:xfrm>
            <a:off x="8092440" y="1874520"/>
            <a:ext cx="3291840" cy="822960"/>
          </a:xfrm>
          <a:prstGeom prst="rect">
            <a:avLst/>
          </a:prstGeom>
          <a:noFill/>
        </p:spPr>
        <p:txBody>
          <a:bodyPr wrap="square" rtlCol="0" anchor="ctr"/>
          <a:lstStyle/>
          <a:p>
            <a:pPr marL="0" indent="0">
              <a:buNone/>
            </a:pPr>
            <a:r>
              <a:rPr lang="en-US" sz="4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392</a:t>
            </a:r>
            <a:endParaRPr lang="en-US" sz="4800" dirty="0"/>
          </a:p>
        </p:txBody>
      </p:sp>
      <p:sp>
        <p:nvSpPr>
          <p:cNvPr id="7" name="Text 4"/>
          <p:cNvSpPr/>
          <p:nvPr/>
        </p:nvSpPr>
        <p:spPr>
          <a:xfrm>
            <a:off x="8092440" y="2606040"/>
            <a:ext cx="3291840" cy="82296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employees left the company — a company-wide attrition rate of 39.2%</a:t>
            </a:r>
            <a:endParaRPr lang="en-US" sz="1300" dirty="0"/>
          </a:p>
        </p:txBody>
      </p:sp>
      <p:sp>
        <p:nvSpPr>
          <p:cNvPr id="8" name="Text 5"/>
          <p:cNvSpPr/>
          <p:nvPr/>
        </p:nvSpPr>
        <p:spPr>
          <a:xfrm>
            <a:off x="8092440" y="3611880"/>
            <a:ext cx="3291840" cy="822960"/>
          </a:xfrm>
          <a:prstGeom prst="rect">
            <a:avLst/>
          </a:prstGeom>
          <a:noFill/>
        </p:spPr>
        <p:txBody>
          <a:bodyPr wrap="square" rtlCol="0" anchor="ctr"/>
          <a:lstStyle/>
          <a:p>
            <a:pPr marL="0" indent="0">
              <a:lnSpc>
                <a:spcPct val="130000"/>
              </a:lnSpc>
              <a:buNone/>
            </a:pPr>
            <a:r>
              <a:rPr lang="en-US" sz="1300" b="1" dirty="0">
                <a:solidFill>
                  <a:srgbClr val="E8A33D"/>
                </a:solidFill>
                <a:latin typeface="Calibri" panose="020F0502020204030204" pitchFamily="34" charset="0"/>
                <a:ea typeface="Calibri" panose="020F0502020204030204" pitchFamily="34" charset="-122"/>
                <a:cs typeface="Calibri" panose="020F0502020204030204" pitchFamily="34" charset="-120"/>
              </a:rPr>
              <a:t>Marketing: </a:t>
            </a: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42.8% (highest)
</a:t>
            </a:r>
            <a:r>
              <a:rPr lang="en-US" sz="1300" b="1" dirty="0">
                <a:solidFill>
                  <a:srgbClr val="8FD19E"/>
                </a:solidFill>
                <a:latin typeface="Calibri" panose="020F0502020204030204" pitchFamily="34" charset="0"/>
                <a:ea typeface="Calibri" panose="020F0502020204030204" pitchFamily="34" charset="-122"/>
                <a:cs typeface="Calibri" panose="020F0502020204030204" pitchFamily="34" charset="-120"/>
              </a:rPr>
              <a:t>HR: </a:t>
            </a: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36.0% (lowest)
</a:t>
            </a:r>
            <a:endParaRPr lang="en-US" sz="1300" dirty="0"/>
          </a:p>
        </p:txBody>
      </p:sp>
      <p:sp>
        <p:nvSpPr>
          <p:cNvPr id="9" name="Text 6"/>
          <p:cNvSpPr/>
          <p:nvPr/>
        </p:nvSpPr>
        <p:spPr>
          <a:xfrm>
            <a:off x="8092440" y="4754880"/>
            <a:ext cx="3291840" cy="914400"/>
          </a:xfrm>
          <a:prstGeom prst="rect">
            <a:avLst/>
          </a:prstGeom>
          <a:noFill/>
        </p:spPr>
        <p:txBody>
          <a:bodyPr wrap="square" rtlCol="0" anchor="ctr"/>
          <a:lstStyle/>
          <a:p>
            <a:pPr marL="0" indent="0">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The 6.8-point gap between departments is real, but department alone doesn't explain most turnover.</a:t>
            </a:r>
            <a:endParaRPr lang="en-US" sz="1200" dirty="0"/>
          </a:p>
        </p:txBody>
      </p:sp>
      <p:sp>
        <p:nvSpPr>
          <p:cNvPr id="11" name="Text 7"/>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12" name="Text 8"/>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82296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Job Satisfaction Is the Strongest Predictor of Attrition</a:t>
            </a:r>
            <a:endParaRPr lang="en-US" sz="3000" dirty="0"/>
          </a:p>
        </p:txBody>
      </p:sp>
      <p:sp>
        <p:nvSpPr>
          <p:cNvPr id="3" name="Text 1"/>
          <p:cNvSpPr/>
          <p:nvPr/>
        </p:nvSpPr>
        <p:spPr>
          <a:xfrm>
            <a:off x="548640" y="1143000"/>
            <a:ext cx="10972800" cy="365760"/>
          </a:xfrm>
          <a:prstGeom prst="rect">
            <a:avLst/>
          </a:prstGeom>
          <a:noFill/>
        </p:spPr>
        <p:txBody>
          <a:bodyPr wrap="square" rtlCol="0" anchor="ctr"/>
          <a:lstStyle/>
          <a:p>
            <a:pPr marL="0" indent="0">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Employees rating satisfaction 1–2 leave at more than double the rate of those rating 3+</a:t>
            </a:r>
            <a:endParaRPr lang="en-US" sz="1400" dirty="0"/>
          </a:p>
        </p:txBody>
      </p:sp>
      <p:graphicFrame>
        <p:nvGraphicFramePr>
          <p:cNvPr id="4" name="Chart 0"/>
          <p:cNvGraphicFramePr/>
          <p:nvPr/>
        </p:nvGraphicFramePr>
        <p:xfrm>
          <a:off x="457200" y="1691640"/>
          <a:ext cx="6949440" cy="44805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772400" y="1691640"/>
            <a:ext cx="3886200" cy="2057400"/>
          </a:xfrm>
          <a:prstGeom prst="roundRect">
            <a:avLst>
              <a:gd name="adj" fmla="val 3556"/>
            </a:avLst>
          </a:prstGeom>
          <a:solidFill>
            <a:srgbClr val="0F3D5C"/>
          </a:solidFill>
        </p:spPr>
      </p:sp>
      <p:sp>
        <p:nvSpPr>
          <p:cNvPr id="6" name="Text 3"/>
          <p:cNvSpPr/>
          <p:nvPr/>
        </p:nvSpPr>
        <p:spPr>
          <a:xfrm>
            <a:off x="8046720" y="1920240"/>
            <a:ext cx="3337560" cy="685800"/>
          </a:xfrm>
          <a:prstGeom prst="rect">
            <a:avLst/>
          </a:prstGeom>
          <a:noFill/>
        </p:spPr>
        <p:txBody>
          <a:bodyPr wrap="square" rtlCol="0" anchor="ctr"/>
          <a:lstStyle/>
          <a:p>
            <a:pPr marL="0" indent="0">
              <a:buNone/>
            </a:pPr>
            <a:r>
              <a:rPr lang="en-US" sz="4000" b="1" dirty="0">
                <a:solidFill>
                  <a:srgbClr val="E8A33D"/>
                </a:solidFill>
                <a:latin typeface="Cambria" panose="02040503050406030204" pitchFamily="34" charset="0"/>
                <a:ea typeface="Cambria" panose="02040503050406030204" pitchFamily="34" charset="-122"/>
                <a:cs typeface="Cambria" panose="02040503050406030204" pitchFamily="34" charset="-120"/>
              </a:rPr>
              <a:t>56.0%</a:t>
            </a:r>
            <a:endParaRPr lang="en-US" sz="4000" dirty="0"/>
          </a:p>
        </p:txBody>
      </p:sp>
      <p:sp>
        <p:nvSpPr>
          <p:cNvPr id="7" name="Text 4"/>
          <p:cNvSpPr/>
          <p:nvPr/>
        </p:nvSpPr>
        <p:spPr>
          <a:xfrm>
            <a:off x="8046720" y="2606040"/>
            <a:ext cx="3337560" cy="1005840"/>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combined attrition among employees scoring satisfaction at 1 or 2</a:t>
            </a:r>
            <a:endParaRPr lang="en-US" sz="1300" dirty="0"/>
          </a:p>
        </p:txBody>
      </p:sp>
      <p:sp>
        <p:nvSpPr>
          <p:cNvPr id="8" name="Shape 5"/>
          <p:cNvSpPr/>
          <p:nvPr/>
        </p:nvSpPr>
        <p:spPr>
          <a:xfrm>
            <a:off x="7772400" y="3931920"/>
            <a:ext cx="3886200" cy="2057400"/>
          </a:xfrm>
          <a:prstGeom prst="roundRect">
            <a:avLst>
              <a:gd name="adj" fmla="val 3556"/>
            </a:avLst>
          </a:prstGeom>
          <a:solidFill>
            <a:srgbClr val="0F3D5C"/>
          </a:solidFill>
        </p:spPr>
      </p:sp>
      <p:sp>
        <p:nvSpPr>
          <p:cNvPr id="9" name="Text 6"/>
          <p:cNvSpPr/>
          <p:nvPr/>
        </p:nvSpPr>
        <p:spPr>
          <a:xfrm>
            <a:off x="8046720" y="4160520"/>
            <a:ext cx="3337560" cy="685800"/>
          </a:xfrm>
          <a:prstGeom prst="rect">
            <a:avLst/>
          </a:prstGeom>
          <a:noFill/>
        </p:spPr>
        <p:txBody>
          <a:bodyPr wrap="square" rtlCol="0" anchor="ctr"/>
          <a:lstStyle/>
          <a:p>
            <a:pPr marL="0" indent="0">
              <a:buNone/>
            </a:pPr>
            <a:r>
              <a:rPr lang="en-US" sz="4000" b="1" dirty="0">
                <a:solidFill>
                  <a:srgbClr val="6FC3A0"/>
                </a:solidFill>
                <a:latin typeface="Cambria" panose="02040503050406030204" pitchFamily="34" charset="0"/>
                <a:ea typeface="Cambria" panose="02040503050406030204" pitchFamily="34" charset="-122"/>
                <a:cs typeface="Cambria" panose="02040503050406030204" pitchFamily="34" charset="-120"/>
              </a:rPr>
              <a:t>26.4%</a:t>
            </a:r>
            <a:endParaRPr lang="en-US" sz="4000" dirty="0"/>
          </a:p>
        </p:txBody>
      </p:sp>
      <p:sp>
        <p:nvSpPr>
          <p:cNvPr id="10" name="Text 7"/>
          <p:cNvSpPr/>
          <p:nvPr/>
        </p:nvSpPr>
        <p:spPr>
          <a:xfrm>
            <a:off x="8046720" y="4846320"/>
            <a:ext cx="3337560" cy="1005840"/>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attrition among employees scoring satisfaction at 3 or higher</a:t>
            </a:r>
            <a:endParaRPr lang="en-US" sz="1300" dirty="0"/>
          </a:p>
        </p:txBody>
      </p:sp>
      <p:sp>
        <p:nvSpPr>
          <p:cNvPr id="12" name="Text 8"/>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13" name="Text 9"/>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p:spPr>
        <p:txBody>
          <a:bodyPr wrap="square" rtlCol="0" anchor="ctr"/>
          <a:lstStyle/>
          <a:p>
            <a:pPr marL="0" indent="0">
              <a:buNone/>
            </a:pPr>
            <a:r>
              <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rPr>
              <a:t>Finance Reports the Lowest Job Satisfaction</a:t>
            </a:r>
            <a:endParaRPr lang="en-US" sz="3200" dirty="0"/>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sz="1400" dirty="0">
                <a:solidFill>
                  <a:srgbClr val="6B7C93"/>
                </a:solidFill>
                <a:latin typeface="Calibri" panose="020F0502020204030204" pitchFamily="34" charset="0"/>
                <a:ea typeface="Calibri" panose="020F0502020204030204" pitchFamily="34" charset="-122"/>
                <a:cs typeface="Calibri" panose="020F0502020204030204" pitchFamily="34" charset="-120"/>
              </a:rPr>
              <a:t>Average job satisfaction score by department (1–5 scale)</a:t>
            </a:r>
            <a:endParaRPr lang="en-US" sz="1400" dirty="0"/>
          </a:p>
        </p:txBody>
      </p:sp>
      <p:graphicFrame>
        <p:nvGraphicFramePr>
          <p:cNvPr id="4" name="Chart 0"/>
          <p:cNvGraphicFramePr/>
          <p:nvPr/>
        </p:nvGraphicFramePr>
        <p:xfrm>
          <a:off x="548640" y="1554480"/>
          <a:ext cx="6949440" cy="429768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818120" y="1554480"/>
            <a:ext cx="3840480" cy="4297680"/>
          </a:xfrm>
          <a:prstGeom prst="roundRect">
            <a:avLst>
              <a:gd name="adj" fmla="val 1905"/>
            </a:avLst>
          </a:prstGeom>
          <a:solidFill>
            <a:srgbClr val="FFFFFF"/>
          </a:solidFill>
          <a:effectLst>
            <a:outerShdw blurRad="76200" dist="25400" dir="5400000" algn="bl" rotWithShape="0">
              <a:srgbClr val="1B2A4A">
                <a:alpha val="15000"/>
              </a:srgbClr>
            </a:outerShdw>
          </a:effectLst>
        </p:spPr>
      </p:sp>
      <p:sp>
        <p:nvSpPr>
          <p:cNvPr id="6" name="Text 3"/>
          <p:cNvSpPr/>
          <p:nvPr/>
        </p:nvSpPr>
        <p:spPr>
          <a:xfrm>
            <a:off x="8092440" y="1828800"/>
            <a:ext cx="3291840" cy="685800"/>
          </a:xfrm>
          <a:prstGeom prst="rect">
            <a:avLst/>
          </a:prstGeom>
          <a:noFill/>
        </p:spPr>
        <p:txBody>
          <a:bodyPr wrap="square" rtlCol="0" anchor="ctr"/>
          <a:lstStyle/>
          <a:p>
            <a:pPr marL="0" indent="0">
              <a:buNone/>
            </a:pPr>
            <a:r>
              <a:rPr lang="en-US" sz="4000" b="1" dirty="0">
                <a:solidFill>
                  <a:srgbClr val="E8A33D"/>
                </a:solidFill>
                <a:latin typeface="Cambria" panose="02040503050406030204" pitchFamily="34" charset="0"/>
                <a:ea typeface="Cambria" panose="02040503050406030204" pitchFamily="34" charset="-122"/>
                <a:cs typeface="Cambria" panose="02040503050406030204" pitchFamily="34" charset="-120"/>
              </a:rPr>
              <a:t>2.72 / 5</a:t>
            </a:r>
            <a:endParaRPr lang="en-US" sz="4000" dirty="0"/>
          </a:p>
        </p:txBody>
      </p:sp>
      <p:sp>
        <p:nvSpPr>
          <p:cNvPr id="7" name="Text 4"/>
          <p:cNvSpPr/>
          <p:nvPr/>
        </p:nvSpPr>
        <p:spPr>
          <a:xfrm>
            <a:off x="8092440" y="2560320"/>
            <a:ext cx="3291840" cy="822960"/>
          </a:xfrm>
          <a:prstGeom prst="rect">
            <a:avLst/>
          </a:prstGeom>
          <a:noFill/>
        </p:spPr>
        <p:txBody>
          <a:bodyPr wrap="square" rtlCol="0" anchor="ctr"/>
          <a:lstStyle/>
          <a:p>
            <a:pPr marL="0" indent="0">
              <a:buNone/>
            </a:pPr>
            <a:r>
              <a:rPr lang="en-US" sz="1300" dirty="0">
                <a:solidFill>
                  <a:srgbClr val="1B2A4A"/>
                </a:solidFill>
                <a:latin typeface="Calibri" panose="020F0502020204030204" pitchFamily="34" charset="0"/>
                <a:ea typeface="Calibri" panose="020F0502020204030204" pitchFamily="34" charset="-122"/>
                <a:cs typeface="Calibri" panose="020F0502020204030204" pitchFamily="34" charset="-120"/>
              </a:rPr>
              <a:t>Finance's average job satisfaction — the lowest of any department</a:t>
            </a:r>
            <a:endParaRPr lang="en-US" sz="1300" dirty="0"/>
          </a:p>
        </p:txBody>
      </p:sp>
      <p:sp>
        <p:nvSpPr>
          <p:cNvPr id="8" name="Text 5"/>
          <p:cNvSpPr/>
          <p:nvPr/>
        </p:nvSpPr>
        <p:spPr>
          <a:xfrm>
            <a:off x="8092440" y="3520440"/>
            <a:ext cx="3291840" cy="2011680"/>
          </a:xfrm>
          <a:prstGeom prst="rect">
            <a:avLst/>
          </a:prstGeom>
          <a:noFill/>
        </p:spPr>
        <p:txBody>
          <a:bodyPr wrap="square" rtlCol="0" anchor="ctr"/>
          <a:lstStyle/>
          <a:p>
            <a:pPr marL="0" indent="0">
              <a:buNone/>
            </a:pPr>
            <a:r>
              <a:rPr lang="en-US" sz="1300" i="1" dirty="0">
                <a:solidFill>
                  <a:srgbClr val="1B2A4A"/>
                </a:solidFill>
                <a:latin typeface="Calibri" panose="020F0502020204030204" pitchFamily="34" charset="0"/>
                <a:ea typeface="Calibri" panose="020F0502020204030204" pitchFamily="34" charset="-122"/>
                <a:cs typeface="Calibri" panose="020F0502020204030204" pitchFamily="34" charset="-120"/>
              </a:rPr>
              <a:t>Finance also recorded the second-highest attrition rate (40.4%). Together, this signals a need for operational and workflow improvements within the department.</a:t>
            </a:r>
            <a:endParaRPr lang="en-US" sz="1300" dirty="0"/>
          </a:p>
        </p:txBody>
      </p:sp>
      <p:sp>
        <p:nvSpPr>
          <p:cNvPr id="10" name="Text 6"/>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11" name="Text 7"/>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p:spPr>
        <p:txBody>
          <a:bodyPr wrap="square" rtlCol="0" anchor="ctr"/>
          <a:lstStyle/>
          <a:p>
            <a:pPr marL="0" indent="0">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Age, Tenure &amp; Employment Type Are Weak Predictors</a:t>
            </a:r>
            <a:endParaRPr lang="en-US" sz="3000" dirty="0"/>
          </a:p>
        </p:txBody>
      </p:sp>
      <p:sp>
        <p:nvSpPr>
          <p:cNvPr id="3" name="Text 1"/>
          <p:cNvSpPr/>
          <p:nvPr/>
        </p:nvSpPr>
        <p:spPr>
          <a:xfrm>
            <a:off x="548640" y="1005840"/>
            <a:ext cx="10972800" cy="365760"/>
          </a:xfrm>
          <a:prstGeom prst="rect">
            <a:avLst/>
          </a:prstGeom>
          <a:noFill/>
        </p:spPr>
        <p:txBody>
          <a:bodyPr wrap="square" rtlCol="0" anchor="ctr"/>
          <a:lstStyle/>
          <a:p>
            <a:pPr marL="0" indent="0">
              <a:buNone/>
            </a:pPr>
            <a:r>
              <a:rPr lang="en-US" sz="1400" dirty="0">
                <a:solidFill>
                  <a:srgbClr val="6B7C93"/>
                </a:solidFill>
                <a:latin typeface="Calibri" panose="020F0502020204030204" pitchFamily="34" charset="0"/>
                <a:ea typeface="Calibri" panose="020F0502020204030204" pitchFamily="34" charset="-122"/>
                <a:cs typeface="Calibri" panose="020F0502020204030204" pitchFamily="34" charset="-120"/>
              </a:rPr>
              <a:t>Attrition stays within a narrow band across these factors — none stands out as a major driver</a:t>
            </a:r>
            <a:endParaRPr lang="en-US" sz="1400" dirty="0"/>
          </a:p>
        </p:txBody>
      </p:sp>
      <p:sp>
        <p:nvSpPr>
          <p:cNvPr id="4" name="Shape 2"/>
          <p:cNvSpPr/>
          <p:nvPr/>
        </p:nvSpPr>
        <p:spPr>
          <a:xfrm>
            <a:off x="548640" y="1691640"/>
            <a:ext cx="3566160" cy="4206240"/>
          </a:xfrm>
          <a:prstGeom prst="roundRect">
            <a:avLst>
              <a:gd name="adj" fmla="val 2051"/>
            </a:avLst>
          </a:prstGeom>
          <a:solidFill>
            <a:srgbClr val="FFFFFF"/>
          </a:solidFill>
          <a:effectLst>
            <a:outerShdw blurRad="63500" dist="25400" dir="5400000" algn="bl" rotWithShape="0">
              <a:srgbClr val="1B2A4A">
                <a:alpha val="12000"/>
              </a:srgbClr>
            </a:outerShdw>
          </a:effectLst>
        </p:spPr>
      </p:sp>
      <p:sp>
        <p:nvSpPr>
          <p:cNvPr id="5" name="Text 3"/>
          <p:cNvSpPr/>
          <p:nvPr/>
        </p:nvSpPr>
        <p:spPr>
          <a:xfrm>
            <a:off x="731520" y="1874520"/>
            <a:ext cx="3200400" cy="365760"/>
          </a:xfrm>
          <a:prstGeom prst="rect">
            <a:avLst/>
          </a:prstGeom>
          <a:noFill/>
        </p:spPr>
        <p:txBody>
          <a:bodyPr wrap="square"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By Age Group</a:t>
            </a:r>
            <a:endParaRPr lang="en-US" sz="1400" dirty="0"/>
          </a:p>
        </p:txBody>
      </p:sp>
      <p:graphicFrame>
        <p:nvGraphicFramePr>
          <p:cNvPr id="6" name="Chart 0"/>
          <p:cNvGraphicFramePr/>
          <p:nvPr/>
        </p:nvGraphicFramePr>
        <p:xfrm>
          <a:off x="640080" y="2286000"/>
          <a:ext cx="3383280" cy="228600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 4"/>
          <p:cNvSpPr/>
          <p:nvPr/>
        </p:nvSpPr>
        <p:spPr>
          <a:xfrm>
            <a:off x="731520" y="4663440"/>
            <a:ext cx="3200400" cy="1097280"/>
          </a:xfrm>
          <a:prstGeom prst="rect">
            <a:avLst/>
          </a:prstGeom>
          <a:noFill/>
        </p:spPr>
        <p:txBody>
          <a:bodyPr wrap="square" rtlCol="0" anchor="ctr"/>
          <a:lstStyle/>
          <a:p>
            <a:pPr marL="0" indent="0">
              <a:buNone/>
            </a:pPr>
            <a:r>
              <a:rPr lang="en-US" sz="1100" i="1" dirty="0">
                <a:solidFill>
                  <a:srgbClr val="6B7C93"/>
                </a:solidFill>
                <a:latin typeface="Calibri" panose="020F0502020204030204" pitchFamily="34" charset="0"/>
                <a:ea typeface="Calibri" panose="020F0502020204030204" pitchFamily="34" charset="-122"/>
                <a:cs typeface="Calibri" panose="020F0502020204030204" pitchFamily="34" charset="-120"/>
              </a:rPr>
              <a:t>54-63 is lower, but only 12 employees fall in this group.</a:t>
            </a:r>
            <a:endParaRPr lang="en-US" sz="1100" dirty="0"/>
          </a:p>
        </p:txBody>
      </p:sp>
      <p:sp>
        <p:nvSpPr>
          <p:cNvPr id="8" name="Shape 5"/>
          <p:cNvSpPr/>
          <p:nvPr/>
        </p:nvSpPr>
        <p:spPr>
          <a:xfrm>
            <a:off x="4434840" y="1691640"/>
            <a:ext cx="3566160" cy="4206240"/>
          </a:xfrm>
          <a:prstGeom prst="roundRect">
            <a:avLst>
              <a:gd name="adj" fmla="val 2051"/>
            </a:avLst>
          </a:prstGeom>
          <a:solidFill>
            <a:srgbClr val="FFFFFF"/>
          </a:solidFill>
          <a:effectLst>
            <a:outerShdw blurRad="63500" dist="25400" dir="5400000" algn="bl" rotWithShape="0">
              <a:srgbClr val="1B2A4A">
                <a:alpha val="12000"/>
              </a:srgbClr>
            </a:outerShdw>
          </a:effectLst>
        </p:spPr>
      </p:sp>
      <p:sp>
        <p:nvSpPr>
          <p:cNvPr id="9" name="Text 6"/>
          <p:cNvSpPr/>
          <p:nvPr/>
        </p:nvSpPr>
        <p:spPr>
          <a:xfrm>
            <a:off x="4617720" y="1874520"/>
            <a:ext cx="3200400" cy="365760"/>
          </a:xfrm>
          <a:prstGeom prst="rect">
            <a:avLst/>
          </a:prstGeom>
          <a:noFill/>
        </p:spPr>
        <p:txBody>
          <a:bodyPr wrap="square"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By Years of Service</a:t>
            </a:r>
            <a:endParaRPr lang="en-US" sz="1400" dirty="0"/>
          </a:p>
        </p:txBody>
      </p:sp>
      <p:graphicFrame>
        <p:nvGraphicFramePr>
          <p:cNvPr id="10" name="Chart 1"/>
          <p:cNvGraphicFramePr/>
          <p:nvPr/>
        </p:nvGraphicFramePr>
        <p:xfrm>
          <a:off x="4526280" y="2286000"/>
          <a:ext cx="338328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7"/>
          <p:cNvSpPr/>
          <p:nvPr/>
        </p:nvSpPr>
        <p:spPr>
          <a:xfrm>
            <a:off x="4617720" y="4663440"/>
            <a:ext cx="3200400" cy="1097280"/>
          </a:xfrm>
          <a:prstGeom prst="rect">
            <a:avLst/>
          </a:prstGeom>
          <a:noFill/>
        </p:spPr>
        <p:txBody>
          <a:bodyPr wrap="square" rtlCol="0" anchor="ctr"/>
          <a:lstStyle/>
          <a:p>
            <a:pPr marL="0" indent="0">
              <a:buNone/>
            </a:pPr>
            <a:r>
              <a:rPr lang="en-US" sz="1100" i="1" dirty="0">
                <a:solidFill>
                  <a:srgbClr val="6B7C93"/>
                </a:solidFill>
                <a:latin typeface="Calibri" panose="020F0502020204030204" pitchFamily="34" charset="0"/>
                <a:ea typeface="Calibri" panose="020F0502020204030204" pitchFamily="34" charset="-122"/>
                <a:cs typeface="Calibri" panose="020F0502020204030204" pitchFamily="34" charset="-120"/>
              </a:rPr>
              <a:t>3-5 years of service sees the highest attrition, at 41.1%.</a:t>
            </a:r>
            <a:endParaRPr lang="en-US" sz="1100" dirty="0"/>
          </a:p>
        </p:txBody>
      </p:sp>
      <p:sp>
        <p:nvSpPr>
          <p:cNvPr id="12" name="Shape 8"/>
          <p:cNvSpPr/>
          <p:nvPr/>
        </p:nvSpPr>
        <p:spPr>
          <a:xfrm>
            <a:off x="8321040" y="1691640"/>
            <a:ext cx="3566160" cy="4206240"/>
          </a:xfrm>
          <a:prstGeom prst="roundRect">
            <a:avLst>
              <a:gd name="adj" fmla="val 2051"/>
            </a:avLst>
          </a:prstGeom>
          <a:solidFill>
            <a:srgbClr val="FFFFFF"/>
          </a:solidFill>
          <a:effectLst>
            <a:outerShdw blurRad="63500" dist="25400" dir="5400000" algn="bl" rotWithShape="0">
              <a:srgbClr val="1B2A4A">
                <a:alpha val="12000"/>
              </a:srgbClr>
            </a:outerShdw>
          </a:effectLst>
        </p:spPr>
      </p:sp>
      <p:sp>
        <p:nvSpPr>
          <p:cNvPr id="13" name="Text 9"/>
          <p:cNvSpPr/>
          <p:nvPr/>
        </p:nvSpPr>
        <p:spPr>
          <a:xfrm>
            <a:off x="8503920" y="1874520"/>
            <a:ext cx="3200400" cy="365760"/>
          </a:xfrm>
          <a:prstGeom prst="rect">
            <a:avLst/>
          </a:prstGeom>
          <a:noFill/>
        </p:spPr>
        <p:txBody>
          <a:bodyPr wrap="square"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By Employment Status</a:t>
            </a:r>
            <a:endParaRPr lang="en-US" sz="1400" dirty="0"/>
          </a:p>
        </p:txBody>
      </p:sp>
      <p:graphicFrame>
        <p:nvGraphicFramePr>
          <p:cNvPr id="14" name="Chart 2"/>
          <p:cNvGraphicFramePr/>
          <p:nvPr/>
        </p:nvGraphicFramePr>
        <p:xfrm>
          <a:off x="8412480" y="2286000"/>
          <a:ext cx="33832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0"/>
          <p:cNvSpPr/>
          <p:nvPr/>
        </p:nvSpPr>
        <p:spPr>
          <a:xfrm>
            <a:off x="8503920" y="4663440"/>
            <a:ext cx="3200400" cy="1097280"/>
          </a:xfrm>
          <a:prstGeom prst="rect">
            <a:avLst/>
          </a:prstGeom>
          <a:noFill/>
        </p:spPr>
        <p:txBody>
          <a:bodyPr wrap="square" rtlCol="0" anchor="ctr"/>
          <a:lstStyle/>
          <a:p>
            <a:pPr marL="0" indent="0">
              <a:buNone/>
            </a:pPr>
            <a:r>
              <a:rPr lang="en-US" sz="1100" i="1" dirty="0">
                <a:solidFill>
                  <a:srgbClr val="6B7C93"/>
                </a:solidFill>
                <a:latin typeface="Calibri" panose="020F0502020204030204" pitchFamily="34" charset="0"/>
                <a:ea typeface="Calibri" panose="020F0502020204030204" pitchFamily="34" charset="-122"/>
                <a:cs typeface="Calibri" panose="020F0502020204030204" pitchFamily="34" charset="-120"/>
              </a:rPr>
              <a:t>Full-Time employees have the highest attrition, at 40.2%.</a:t>
            </a:r>
            <a:endParaRPr lang="en-US" sz="1100" dirty="0"/>
          </a:p>
        </p:txBody>
      </p:sp>
      <p:sp>
        <p:nvSpPr>
          <p:cNvPr id="17" name="Text 11"/>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18" name="Text 12"/>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371600" y="4389120"/>
            <a:ext cx="4572000" cy="4572000"/>
          </a:xfrm>
          <a:prstGeom prst="ellipse">
            <a:avLst/>
          </a:prstGeom>
          <a:solidFill>
            <a:srgbClr val="0F3D5C"/>
          </a:solidFill>
        </p:spPr>
      </p:sp>
      <p:sp>
        <p:nvSpPr>
          <p:cNvPr id="3" name="Text 1"/>
          <p:cNvSpPr/>
          <p:nvPr/>
        </p:nvSpPr>
        <p:spPr>
          <a:xfrm>
            <a:off x="548640" y="457200"/>
            <a:ext cx="10972800" cy="73152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Key Takeaways</a:t>
            </a:r>
            <a:endParaRPr lang="en-US" sz="3200" dirty="0"/>
          </a:p>
        </p:txBody>
      </p:sp>
      <p:sp>
        <p:nvSpPr>
          <p:cNvPr id="4" name="Shape 2"/>
          <p:cNvSpPr/>
          <p:nvPr/>
        </p:nvSpPr>
        <p:spPr>
          <a:xfrm>
            <a:off x="548640" y="1600200"/>
            <a:ext cx="411480" cy="411480"/>
          </a:xfrm>
          <a:prstGeom prst="ellipse">
            <a:avLst/>
          </a:prstGeom>
          <a:solidFill>
            <a:srgbClr val="1C7293"/>
          </a:solidFill>
        </p:spPr>
      </p:sp>
      <p:sp>
        <p:nvSpPr>
          <p:cNvPr id="5" name="Text 3"/>
          <p:cNvSpPr/>
          <p:nvPr/>
        </p:nvSpPr>
        <p:spPr>
          <a:xfrm>
            <a:off x="548640" y="1600200"/>
            <a:ext cx="411480" cy="41148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6" name="Text 4"/>
          <p:cNvSpPr/>
          <p:nvPr/>
        </p:nvSpPr>
        <p:spPr>
          <a:xfrm>
            <a:off x="1143000" y="1508760"/>
            <a:ext cx="10241280" cy="365760"/>
          </a:xfrm>
          <a:prstGeom prst="rect">
            <a:avLst/>
          </a:prstGeom>
          <a:noFill/>
        </p:spPr>
        <p:txBody>
          <a:bodyPr wrap="square" rtlCol="0" anchor="ctr"/>
          <a:lstStyle/>
          <a:p>
            <a:pPr marL="0" indent="0">
              <a:buNone/>
            </a:pPr>
            <a:r>
              <a:rPr lang="en-US" sz="1600" b="1" dirty="0">
                <a:solidFill>
                  <a:srgbClr val="E8A33D"/>
                </a:solidFill>
                <a:latin typeface="Calibri" panose="020F0502020204030204" pitchFamily="34" charset="0"/>
                <a:ea typeface="Calibri" panose="020F0502020204030204" pitchFamily="34" charset="-122"/>
                <a:cs typeface="Calibri" panose="020F0502020204030204" pitchFamily="34" charset="-120"/>
              </a:rPr>
              <a:t>Job satisfaction drives turnover</a:t>
            </a:r>
            <a:endParaRPr lang="en-US" sz="1600" dirty="0"/>
          </a:p>
        </p:txBody>
      </p:sp>
      <p:sp>
        <p:nvSpPr>
          <p:cNvPr id="7" name="Text 5"/>
          <p:cNvSpPr/>
          <p:nvPr/>
        </p:nvSpPr>
        <p:spPr>
          <a:xfrm>
            <a:off x="1143000" y="1847088"/>
            <a:ext cx="10241280" cy="68580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Employees scoring 1-2 leave at 56.0% vs. 26.4% for those scoring 3+. This is the single largest lever available to reduce attrition.</a:t>
            </a:r>
            <a:endParaRPr lang="en-US" sz="1300" dirty="0"/>
          </a:p>
        </p:txBody>
      </p:sp>
      <p:sp>
        <p:nvSpPr>
          <p:cNvPr id="8" name="Shape 6"/>
          <p:cNvSpPr/>
          <p:nvPr/>
        </p:nvSpPr>
        <p:spPr>
          <a:xfrm>
            <a:off x="548640" y="2788920"/>
            <a:ext cx="411480" cy="411480"/>
          </a:xfrm>
          <a:prstGeom prst="ellipse">
            <a:avLst/>
          </a:prstGeom>
          <a:solidFill>
            <a:srgbClr val="1C7293"/>
          </a:solidFill>
        </p:spPr>
      </p:sp>
      <p:sp>
        <p:nvSpPr>
          <p:cNvPr id="9" name="Text 7"/>
          <p:cNvSpPr/>
          <p:nvPr/>
        </p:nvSpPr>
        <p:spPr>
          <a:xfrm>
            <a:off x="548640" y="2788920"/>
            <a:ext cx="411480" cy="41148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0" name="Text 8"/>
          <p:cNvSpPr/>
          <p:nvPr/>
        </p:nvSpPr>
        <p:spPr>
          <a:xfrm>
            <a:off x="1143000" y="2697480"/>
            <a:ext cx="10241280" cy="365760"/>
          </a:xfrm>
          <a:prstGeom prst="rect">
            <a:avLst/>
          </a:prstGeom>
          <a:noFill/>
        </p:spPr>
        <p:txBody>
          <a:bodyPr wrap="square" rtlCol="0" anchor="ctr"/>
          <a:lstStyle/>
          <a:p>
            <a:pPr marL="0" indent="0">
              <a:buNone/>
            </a:pPr>
            <a:r>
              <a:rPr lang="en-US" sz="1600" b="1" dirty="0">
                <a:solidFill>
                  <a:srgbClr val="E8A33D"/>
                </a:solidFill>
                <a:latin typeface="Calibri" panose="020F0502020204030204" pitchFamily="34" charset="0"/>
                <a:ea typeface="Calibri" panose="020F0502020204030204" pitchFamily="34" charset="-122"/>
                <a:cs typeface="Calibri" panose="020F0502020204030204" pitchFamily="34" charset="-120"/>
              </a:rPr>
              <a:t>Finance combines low morale with high attrition</a:t>
            </a:r>
            <a:endParaRPr lang="en-US" sz="1600" dirty="0"/>
          </a:p>
        </p:txBody>
      </p:sp>
      <p:sp>
        <p:nvSpPr>
          <p:cNvPr id="11" name="Text 9"/>
          <p:cNvSpPr/>
          <p:nvPr/>
        </p:nvSpPr>
        <p:spPr>
          <a:xfrm>
            <a:off x="1143000" y="3035808"/>
            <a:ext cx="10241280" cy="68580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The lowest satisfaction score (2.72/5) sits alongside the second-highest attrition rate (40.4%).</a:t>
            </a:r>
            <a:endParaRPr lang="en-US" sz="1300" dirty="0"/>
          </a:p>
        </p:txBody>
      </p:sp>
      <p:sp>
        <p:nvSpPr>
          <p:cNvPr id="12" name="Shape 10"/>
          <p:cNvSpPr/>
          <p:nvPr/>
        </p:nvSpPr>
        <p:spPr>
          <a:xfrm>
            <a:off x="548640" y="3977640"/>
            <a:ext cx="411480" cy="411480"/>
          </a:xfrm>
          <a:prstGeom prst="ellipse">
            <a:avLst/>
          </a:prstGeom>
          <a:solidFill>
            <a:srgbClr val="1C7293"/>
          </a:solidFill>
        </p:spPr>
      </p:sp>
      <p:sp>
        <p:nvSpPr>
          <p:cNvPr id="13" name="Text 11"/>
          <p:cNvSpPr/>
          <p:nvPr/>
        </p:nvSpPr>
        <p:spPr>
          <a:xfrm>
            <a:off x="548640" y="3977640"/>
            <a:ext cx="411480" cy="41148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4" name="Text 12"/>
          <p:cNvSpPr/>
          <p:nvPr/>
        </p:nvSpPr>
        <p:spPr>
          <a:xfrm>
            <a:off x="1143000" y="3886200"/>
            <a:ext cx="10241280" cy="365760"/>
          </a:xfrm>
          <a:prstGeom prst="rect">
            <a:avLst/>
          </a:prstGeom>
          <a:noFill/>
        </p:spPr>
        <p:txBody>
          <a:bodyPr wrap="square" rtlCol="0" anchor="ctr"/>
          <a:lstStyle/>
          <a:p>
            <a:pPr marL="0" indent="0">
              <a:buNone/>
            </a:pPr>
            <a:r>
              <a:rPr lang="en-US" sz="1600" b="1" dirty="0">
                <a:solidFill>
                  <a:srgbClr val="E8A33D"/>
                </a:solidFill>
                <a:latin typeface="Calibri" panose="020F0502020204030204" pitchFamily="34" charset="0"/>
                <a:ea typeface="Calibri" panose="020F0502020204030204" pitchFamily="34" charset="-122"/>
                <a:cs typeface="Calibri" panose="020F0502020204030204" pitchFamily="34" charset="-120"/>
              </a:rPr>
              <a:t>Marketing and the 3-5 year cohort turn over fastest</a:t>
            </a:r>
            <a:endParaRPr lang="en-US" sz="1600" dirty="0"/>
          </a:p>
        </p:txBody>
      </p:sp>
      <p:sp>
        <p:nvSpPr>
          <p:cNvPr id="15" name="Text 13"/>
          <p:cNvSpPr/>
          <p:nvPr/>
        </p:nvSpPr>
        <p:spPr>
          <a:xfrm>
            <a:off x="1143000" y="4224528"/>
            <a:ext cx="10241280" cy="68580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Marketing leads all departments at 42.8% attrition; the 3-5 year tenure band peaks at 40.9%.</a:t>
            </a:r>
            <a:endParaRPr lang="en-US" sz="1300" dirty="0"/>
          </a:p>
        </p:txBody>
      </p:sp>
      <p:sp>
        <p:nvSpPr>
          <p:cNvPr id="16" name="Shape 14"/>
          <p:cNvSpPr/>
          <p:nvPr/>
        </p:nvSpPr>
        <p:spPr>
          <a:xfrm>
            <a:off x="548640" y="5166360"/>
            <a:ext cx="411480" cy="411480"/>
          </a:xfrm>
          <a:prstGeom prst="ellipse">
            <a:avLst/>
          </a:prstGeom>
          <a:solidFill>
            <a:srgbClr val="1C7293"/>
          </a:solidFill>
        </p:spPr>
      </p:sp>
      <p:sp>
        <p:nvSpPr>
          <p:cNvPr id="17" name="Text 15"/>
          <p:cNvSpPr/>
          <p:nvPr/>
        </p:nvSpPr>
        <p:spPr>
          <a:xfrm>
            <a:off x="548640" y="5166360"/>
            <a:ext cx="411480" cy="41148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8" name="Text 16"/>
          <p:cNvSpPr/>
          <p:nvPr/>
        </p:nvSpPr>
        <p:spPr>
          <a:xfrm>
            <a:off x="1143000" y="5074920"/>
            <a:ext cx="10241280" cy="365760"/>
          </a:xfrm>
          <a:prstGeom prst="rect">
            <a:avLst/>
          </a:prstGeom>
          <a:noFill/>
        </p:spPr>
        <p:txBody>
          <a:bodyPr wrap="square" rtlCol="0" anchor="ctr"/>
          <a:lstStyle/>
          <a:p>
            <a:pPr marL="0" indent="0">
              <a:buNone/>
            </a:pPr>
            <a:r>
              <a:rPr lang="en-US" sz="1600" b="1" dirty="0">
                <a:solidFill>
                  <a:srgbClr val="E8A33D"/>
                </a:solidFill>
                <a:latin typeface="Calibri" panose="020F0502020204030204" pitchFamily="34" charset="0"/>
                <a:ea typeface="Calibri" panose="020F0502020204030204" pitchFamily="34" charset="-122"/>
                <a:cs typeface="Calibri" panose="020F0502020204030204" pitchFamily="34" charset="-120"/>
              </a:rPr>
              <a:t>Demographics are not the driver</a:t>
            </a:r>
            <a:endParaRPr lang="en-US" sz="1600" dirty="0"/>
          </a:p>
        </p:txBody>
      </p:sp>
      <p:sp>
        <p:nvSpPr>
          <p:cNvPr id="19" name="Text 17"/>
          <p:cNvSpPr/>
          <p:nvPr/>
        </p:nvSpPr>
        <p:spPr>
          <a:xfrm>
            <a:off x="1143000" y="5413248"/>
            <a:ext cx="10241280" cy="68580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Age, tenure, and employment type show only modest variation (roughly 37-41%), so broad policy changes targeting these alone are unlikely to move the needle.</a:t>
            </a:r>
            <a:endParaRPr lang="en-US" sz="1300" dirty="0"/>
          </a:p>
        </p:txBody>
      </p:sp>
      <p:sp>
        <p:nvSpPr>
          <p:cNvPr id="21" name="Text 18"/>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22" name="Text 19"/>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Actionable Recommendations</a:t>
            </a:r>
            <a:endParaRPr lang="en-US" sz="3200" dirty="0"/>
          </a:p>
        </p:txBody>
      </p:sp>
      <p:sp>
        <p:nvSpPr>
          <p:cNvPr id="3" name="Text 1"/>
          <p:cNvSpPr/>
          <p:nvPr/>
        </p:nvSpPr>
        <p:spPr>
          <a:xfrm>
            <a:off x="548640" y="987552"/>
            <a:ext cx="10972800" cy="365760"/>
          </a:xfrm>
          <a:prstGeom prst="rect">
            <a:avLst/>
          </a:prstGeom>
          <a:noFill/>
        </p:spPr>
        <p:txBody>
          <a:bodyPr wrap="square" rtlCol="0" anchor="ctr"/>
          <a:lstStyle/>
          <a:p>
            <a:pPr marL="0" indent="0">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Four targeted initiatives, each tied directly to a finding in the data</a:t>
            </a:r>
            <a:endParaRPr lang="en-US" sz="1400" dirty="0"/>
          </a:p>
        </p:txBody>
      </p:sp>
      <p:sp>
        <p:nvSpPr>
          <p:cNvPr id="4" name="Shape 2"/>
          <p:cNvSpPr/>
          <p:nvPr/>
        </p:nvSpPr>
        <p:spPr>
          <a:xfrm>
            <a:off x="548640" y="1600200"/>
            <a:ext cx="5408676" cy="2286000"/>
          </a:xfrm>
          <a:prstGeom prst="roundRect">
            <a:avLst>
              <a:gd name="adj" fmla="val 3200"/>
            </a:avLst>
          </a:prstGeom>
          <a:solidFill>
            <a:srgbClr val="0F3D5C"/>
          </a:solidFill>
        </p:spPr>
      </p:sp>
      <p:sp>
        <p:nvSpPr>
          <p:cNvPr id="5" name="Shape 3"/>
          <p:cNvSpPr/>
          <p:nvPr/>
        </p:nvSpPr>
        <p:spPr>
          <a:xfrm>
            <a:off x="777240" y="1828800"/>
            <a:ext cx="384048" cy="384048"/>
          </a:xfrm>
          <a:prstGeom prst="ellipse">
            <a:avLst/>
          </a:prstGeom>
          <a:solidFill>
            <a:srgbClr val="E8A33D"/>
          </a:solidFill>
        </p:spPr>
      </p:sp>
      <p:sp>
        <p:nvSpPr>
          <p:cNvPr id="6" name="Text 4"/>
          <p:cNvSpPr/>
          <p:nvPr/>
        </p:nvSpPr>
        <p:spPr>
          <a:xfrm>
            <a:off x="777240" y="1828800"/>
            <a:ext cx="384048" cy="384048"/>
          </a:xfrm>
          <a:prstGeom prst="rect">
            <a:avLst/>
          </a:prstGeom>
          <a:noFill/>
        </p:spPr>
        <p:txBody>
          <a:bodyPr wrap="square" rtlCol="0" anchor="ctr"/>
          <a:lstStyle/>
          <a:p>
            <a:pPr marL="0" indent="0" algn="ctr">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1</a:t>
            </a:r>
            <a:endParaRPr lang="en-US" sz="1500" dirty="0"/>
          </a:p>
        </p:txBody>
      </p:sp>
      <p:sp>
        <p:nvSpPr>
          <p:cNvPr id="7" name="Text 5"/>
          <p:cNvSpPr/>
          <p:nvPr/>
        </p:nvSpPr>
        <p:spPr>
          <a:xfrm>
            <a:off x="1325880" y="1801368"/>
            <a:ext cx="4402836" cy="50292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Prioritize Low-Satisfaction Employees</a:t>
            </a:r>
            <a:endParaRPr lang="en-US" sz="1500" dirty="0"/>
          </a:p>
        </p:txBody>
      </p:sp>
      <p:sp>
        <p:nvSpPr>
          <p:cNvPr id="8" name="Text 6"/>
          <p:cNvSpPr/>
          <p:nvPr/>
        </p:nvSpPr>
        <p:spPr>
          <a:xfrm>
            <a:off x="822960" y="2423160"/>
            <a:ext cx="4860036" cy="914400"/>
          </a:xfrm>
          <a:prstGeom prst="rect">
            <a:avLst/>
          </a:prstGeom>
          <a:noFill/>
        </p:spPr>
        <p:txBody>
          <a:bodyPr wrap="square" rtlCol="0" anchor="ctr"/>
          <a:lstStyle/>
          <a:p>
            <a:pPr marL="0" indent="0">
              <a:lnSpc>
                <a:spcPct val="115000"/>
              </a:lnSpc>
              <a:buNone/>
            </a:pPr>
            <a:r>
              <a:rPr lang="en-US" sz="1150" b="1" dirty="0">
                <a:solidFill>
                  <a:srgbClr val="CADCFC"/>
                </a:solidFill>
                <a:latin typeface="Calibri" panose="020F0502020204030204" pitchFamily="34" charset="0"/>
                <a:ea typeface="Calibri" panose="020F0502020204030204" pitchFamily="34" charset="-122"/>
                <a:cs typeface="Calibri" panose="020F0502020204030204" pitchFamily="34" charset="-120"/>
              </a:rPr>
              <a:t>Action: </a:t>
            </a:r>
            <a:r>
              <a:rPr lang="en-US" sz="1150" dirty="0">
                <a:solidFill>
                  <a:srgbClr val="D7E3F0"/>
                </a:solidFill>
                <a:latin typeface="Calibri" panose="020F0502020204030204" pitchFamily="34" charset="0"/>
                <a:ea typeface="Calibri" panose="020F0502020204030204" pitchFamily="34" charset="-122"/>
                <a:cs typeface="Calibri" panose="020F0502020204030204" pitchFamily="34" charset="-120"/>
              </a:rPr>
              <a:t>Direct retention effort — manager attention, workload review, recognition — at employees scoring 1-2 on satisfaction, rather than broad salary increases.</a:t>
            </a:r>
            <a:endParaRPr lang="en-US" sz="1150" dirty="0"/>
          </a:p>
        </p:txBody>
      </p:sp>
      <p:sp>
        <p:nvSpPr>
          <p:cNvPr id="9" name="Text 7"/>
          <p:cNvSpPr/>
          <p:nvPr/>
        </p:nvSpPr>
        <p:spPr>
          <a:xfrm>
            <a:off x="822960" y="3291840"/>
            <a:ext cx="4860036" cy="548640"/>
          </a:xfrm>
          <a:prstGeom prst="rect">
            <a:avLst/>
          </a:prstGeom>
          <a:noFill/>
        </p:spPr>
        <p:txBody>
          <a:bodyPr wrap="square" rtlCol="0" anchor="ctr"/>
          <a:lstStyle/>
          <a:p>
            <a:pPr marL="0" indent="0">
              <a:lnSpc>
                <a:spcPct val="110000"/>
              </a:lnSpc>
              <a:buNone/>
            </a:pPr>
            <a:r>
              <a:rPr lang="en-US" sz="1100" b="1" dirty="0">
                <a:solidFill>
                  <a:srgbClr val="6FC3A0"/>
                </a:solidFill>
                <a:latin typeface="Calibri" panose="020F0502020204030204" pitchFamily="34" charset="0"/>
                <a:ea typeface="Calibri" panose="020F0502020204030204" pitchFamily="34" charset="-122"/>
                <a:cs typeface="Calibri" panose="020F0502020204030204" pitchFamily="34" charset="-120"/>
              </a:rPr>
              <a:t>Impact: </a:t>
            </a:r>
            <a:r>
              <a:rPr lang="en-US" sz="1100" i="1" dirty="0">
                <a:solidFill>
                  <a:srgbClr val="D7E3F0"/>
                </a:solidFill>
                <a:latin typeface="Calibri" panose="020F0502020204030204" pitchFamily="34" charset="0"/>
                <a:ea typeface="Calibri" panose="020F0502020204030204" pitchFamily="34" charset="-122"/>
                <a:cs typeface="Calibri" panose="020F0502020204030204" pitchFamily="34" charset="-120"/>
              </a:rPr>
              <a:t>This group drives 56.0% attrition, more than double the 26.4% rate for scores 3+.</a:t>
            </a:r>
            <a:endParaRPr lang="en-US" sz="1100" dirty="0"/>
          </a:p>
        </p:txBody>
      </p:sp>
      <p:sp>
        <p:nvSpPr>
          <p:cNvPr id="10" name="Shape 8"/>
          <p:cNvSpPr/>
          <p:nvPr/>
        </p:nvSpPr>
        <p:spPr>
          <a:xfrm>
            <a:off x="6231636" y="1600200"/>
            <a:ext cx="5408676" cy="2286000"/>
          </a:xfrm>
          <a:prstGeom prst="roundRect">
            <a:avLst>
              <a:gd name="adj" fmla="val 3200"/>
            </a:avLst>
          </a:prstGeom>
          <a:solidFill>
            <a:srgbClr val="0F3D5C"/>
          </a:solidFill>
        </p:spPr>
      </p:sp>
      <p:sp>
        <p:nvSpPr>
          <p:cNvPr id="11" name="Shape 9"/>
          <p:cNvSpPr/>
          <p:nvPr/>
        </p:nvSpPr>
        <p:spPr>
          <a:xfrm>
            <a:off x="6460236" y="1828800"/>
            <a:ext cx="384048" cy="384048"/>
          </a:xfrm>
          <a:prstGeom prst="ellipse">
            <a:avLst/>
          </a:prstGeom>
          <a:solidFill>
            <a:srgbClr val="E8A33D"/>
          </a:solidFill>
        </p:spPr>
      </p:sp>
      <p:sp>
        <p:nvSpPr>
          <p:cNvPr id="12" name="Text 10"/>
          <p:cNvSpPr/>
          <p:nvPr/>
        </p:nvSpPr>
        <p:spPr>
          <a:xfrm>
            <a:off x="6460236" y="1828800"/>
            <a:ext cx="384048" cy="384048"/>
          </a:xfrm>
          <a:prstGeom prst="rect">
            <a:avLst/>
          </a:prstGeom>
          <a:noFill/>
        </p:spPr>
        <p:txBody>
          <a:bodyPr wrap="square" rtlCol="0" anchor="ctr"/>
          <a:lstStyle/>
          <a:p>
            <a:pPr marL="0" indent="0" algn="ctr">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2</a:t>
            </a:r>
            <a:endParaRPr lang="en-US" sz="1500" dirty="0"/>
          </a:p>
        </p:txBody>
      </p:sp>
      <p:sp>
        <p:nvSpPr>
          <p:cNvPr id="13" name="Text 11"/>
          <p:cNvSpPr/>
          <p:nvPr/>
        </p:nvSpPr>
        <p:spPr>
          <a:xfrm>
            <a:off x="7008876" y="1801368"/>
            <a:ext cx="4402836" cy="50292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Fix Finance Department Morale</a:t>
            </a:r>
            <a:endParaRPr lang="en-US" sz="1500" dirty="0"/>
          </a:p>
        </p:txBody>
      </p:sp>
      <p:sp>
        <p:nvSpPr>
          <p:cNvPr id="14" name="Text 12"/>
          <p:cNvSpPr/>
          <p:nvPr/>
        </p:nvSpPr>
        <p:spPr>
          <a:xfrm>
            <a:off x="6505956" y="2423160"/>
            <a:ext cx="4860036" cy="914400"/>
          </a:xfrm>
          <a:prstGeom prst="rect">
            <a:avLst/>
          </a:prstGeom>
          <a:noFill/>
        </p:spPr>
        <p:txBody>
          <a:bodyPr wrap="square" rtlCol="0" anchor="ctr"/>
          <a:lstStyle/>
          <a:p>
            <a:pPr marL="0" indent="0">
              <a:lnSpc>
                <a:spcPct val="115000"/>
              </a:lnSpc>
              <a:buNone/>
            </a:pPr>
            <a:r>
              <a:rPr lang="en-US" sz="1150" b="1" dirty="0">
                <a:solidFill>
                  <a:srgbClr val="CADCFC"/>
                </a:solidFill>
                <a:latin typeface="Calibri" panose="020F0502020204030204" pitchFamily="34" charset="0"/>
                <a:ea typeface="Calibri" panose="020F0502020204030204" pitchFamily="34" charset="-122"/>
                <a:cs typeface="Calibri" panose="020F0502020204030204" pitchFamily="34" charset="-120"/>
              </a:rPr>
              <a:t>Action: </a:t>
            </a:r>
            <a:r>
              <a:rPr lang="en-US" sz="1150" dirty="0">
                <a:solidFill>
                  <a:srgbClr val="D7E3F0"/>
                </a:solidFill>
                <a:latin typeface="Calibri" panose="020F0502020204030204" pitchFamily="34" charset="0"/>
                <a:ea typeface="Calibri" panose="020F0502020204030204" pitchFamily="34" charset="-122"/>
                <a:cs typeface="Calibri" panose="020F0502020204030204" pitchFamily="34" charset="-120"/>
              </a:rPr>
              <a:t>Audit workload distribution and tooling in Finance, paired with manager coaching, to lift satisfaction toward the company average.</a:t>
            </a:r>
            <a:endParaRPr lang="en-US" sz="1150" dirty="0"/>
          </a:p>
        </p:txBody>
      </p:sp>
      <p:sp>
        <p:nvSpPr>
          <p:cNvPr id="15" name="Text 13"/>
          <p:cNvSpPr/>
          <p:nvPr/>
        </p:nvSpPr>
        <p:spPr>
          <a:xfrm>
            <a:off x="6505956" y="3291840"/>
            <a:ext cx="4860036" cy="548640"/>
          </a:xfrm>
          <a:prstGeom prst="rect">
            <a:avLst/>
          </a:prstGeom>
          <a:noFill/>
        </p:spPr>
        <p:txBody>
          <a:bodyPr wrap="square" rtlCol="0" anchor="ctr"/>
          <a:lstStyle/>
          <a:p>
            <a:pPr marL="0" indent="0">
              <a:lnSpc>
                <a:spcPct val="110000"/>
              </a:lnSpc>
              <a:buNone/>
            </a:pPr>
            <a:r>
              <a:rPr lang="en-US" sz="1100" b="1" dirty="0">
                <a:solidFill>
                  <a:srgbClr val="6FC3A0"/>
                </a:solidFill>
                <a:latin typeface="Calibri" panose="020F0502020204030204" pitchFamily="34" charset="0"/>
                <a:ea typeface="Calibri" panose="020F0502020204030204" pitchFamily="34" charset="-122"/>
                <a:cs typeface="Calibri" panose="020F0502020204030204" pitchFamily="34" charset="-120"/>
              </a:rPr>
              <a:t>Impact: </a:t>
            </a:r>
            <a:r>
              <a:rPr lang="en-US" sz="1100" i="1" dirty="0">
                <a:solidFill>
                  <a:srgbClr val="D7E3F0"/>
                </a:solidFill>
                <a:latin typeface="Calibri" panose="020F0502020204030204" pitchFamily="34" charset="0"/>
                <a:ea typeface="Calibri" panose="020F0502020204030204" pitchFamily="34" charset="-122"/>
                <a:cs typeface="Calibri" panose="020F0502020204030204" pitchFamily="34" charset="-120"/>
              </a:rPr>
              <a:t>Finance sits at 2.72/5 satisfaction (lowest) and 40.4% attrition (2nd highest).</a:t>
            </a:r>
            <a:endParaRPr lang="en-US" sz="1100" dirty="0"/>
          </a:p>
        </p:txBody>
      </p:sp>
      <p:sp>
        <p:nvSpPr>
          <p:cNvPr id="16" name="Shape 14"/>
          <p:cNvSpPr/>
          <p:nvPr/>
        </p:nvSpPr>
        <p:spPr>
          <a:xfrm>
            <a:off x="548640" y="4160520"/>
            <a:ext cx="5408676" cy="2286000"/>
          </a:xfrm>
          <a:prstGeom prst="roundRect">
            <a:avLst>
              <a:gd name="adj" fmla="val 3200"/>
            </a:avLst>
          </a:prstGeom>
          <a:solidFill>
            <a:srgbClr val="0F3D5C"/>
          </a:solidFill>
        </p:spPr>
      </p:sp>
      <p:sp>
        <p:nvSpPr>
          <p:cNvPr id="17" name="Shape 15"/>
          <p:cNvSpPr/>
          <p:nvPr/>
        </p:nvSpPr>
        <p:spPr>
          <a:xfrm>
            <a:off x="777240" y="4389120"/>
            <a:ext cx="384048" cy="384048"/>
          </a:xfrm>
          <a:prstGeom prst="ellipse">
            <a:avLst/>
          </a:prstGeom>
          <a:solidFill>
            <a:srgbClr val="E8A33D"/>
          </a:solidFill>
        </p:spPr>
      </p:sp>
      <p:sp>
        <p:nvSpPr>
          <p:cNvPr id="18" name="Text 16"/>
          <p:cNvSpPr/>
          <p:nvPr/>
        </p:nvSpPr>
        <p:spPr>
          <a:xfrm>
            <a:off x="777240" y="4389120"/>
            <a:ext cx="384048" cy="384048"/>
          </a:xfrm>
          <a:prstGeom prst="rect">
            <a:avLst/>
          </a:prstGeom>
          <a:noFill/>
        </p:spPr>
        <p:txBody>
          <a:bodyPr wrap="square" rtlCol="0" anchor="ctr"/>
          <a:lstStyle/>
          <a:p>
            <a:pPr marL="0" indent="0" algn="ctr">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3</a:t>
            </a:r>
            <a:endParaRPr lang="en-US" sz="1500" dirty="0"/>
          </a:p>
        </p:txBody>
      </p:sp>
      <p:sp>
        <p:nvSpPr>
          <p:cNvPr id="19" name="Text 17"/>
          <p:cNvSpPr/>
          <p:nvPr/>
        </p:nvSpPr>
        <p:spPr>
          <a:xfrm>
            <a:off x="1325880" y="4361688"/>
            <a:ext cx="4402836" cy="50292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Build a Mid-Tenure Career Path (Yr 3-5)</a:t>
            </a:r>
            <a:endParaRPr lang="en-US" sz="1500" dirty="0"/>
          </a:p>
        </p:txBody>
      </p:sp>
      <p:sp>
        <p:nvSpPr>
          <p:cNvPr id="20" name="Text 18"/>
          <p:cNvSpPr/>
          <p:nvPr/>
        </p:nvSpPr>
        <p:spPr>
          <a:xfrm>
            <a:off x="822960" y="4983480"/>
            <a:ext cx="4860036" cy="914400"/>
          </a:xfrm>
          <a:prstGeom prst="rect">
            <a:avLst/>
          </a:prstGeom>
          <a:noFill/>
        </p:spPr>
        <p:txBody>
          <a:bodyPr wrap="square" rtlCol="0" anchor="ctr"/>
          <a:lstStyle/>
          <a:p>
            <a:pPr marL="0" indent="0">
              <a:lnSpc>
                <a:spcPct val="115000"/>
              </a:lnSpc>
              <a:buNone/>
            </a:pPr>
            <a:r>
              <a:rPr lang="en-US" sz="1150" b="1" dirty="0">
                <a:solidFill>
                  <a:srgbClr val="CADCFC"/>
                </a:solidFill>
                <a:latin typeface="Calibri" panose="020F0502020204030204" pitchFamily="34" charset="0"/>
                <a:ea typeface="Calibri" panose="020F0502020204030204" pitchFamily="34" charset="-122"/>
                <a:cs typeface="Calibri" panose="020F0502020204030204" pitchFamily="34" charset="-120"/>
              </a:rPr>
              <a:t>Action: </a:t>
            </a:r>
            <a:r>
              <a:rPr lang="en-US" sz="1150" dirty="0">
                <a:solidFill>
                  <a:srgbClr val="D7E3F0"/>
                </a:solidFill>
                <a:latin typeface="Calibri" panose="020F0502020204030204" pitchFamily="34" charset="0"/>
                <a:ea typeface="Calibri" panose="020F0502020204030204" pitchFamily="34" charset="-122"/>
                <a:cs typeface="Calibri" panose="020F0502020204030204" pitchFamily="34" charset="-120"/>
              </a:rPr>
              <a:t>Introduce mandatory 3-year milestone reviews, clear promotion tracks, and retention bonuses at 36 months.</a:t>
            </a:r>
            <a:endParaRPr lang="en-US" sz="1150" dirty="0"/>
          </a:p>
        </p:txBody>
      </p:sp>
      <p:sp>
        <p:nvSpPr>
          <p:cNvPr id="21" name="Text 19"/>
          <p:cNvSpPr/>
          <p:nvPr/>
        </p:nvSpPr>
        <p:spPr>
          <a:xfrm>
            <a:off x="822960" y="5852160"/>
            <a:ext cx="4860036" cy="548640"/>
          </a:xfrm>
          <a:prstGeom prst="rect">
            <a:avLst/>
          </a:prstGeom>
          <a:noFill/>
        </p:spPr>
        <p:txBody>
          <a:bodyPr wrap="square" rtlCol="0" anchor="ctr"/>
          <a:lstStyle/>
          <a:p>
            <a:pPr marL="0" indent="0">
              <a:lnSpc>
                <a:spcPct val="110000"/>
              </a:lnSpc>
              <a:buNone/>
            </a:pPr>
            <a:r>
              <a:rPr lang="en-US" sz="1100" b="1" dirty="0">
                <a:solidFill>
                  <a:srgbClr val="6FC3A0"/>
                </a:solidFill>
                <a:latin typeface="Calibri" panose="020F0502020204030204" pitchFamily="34" charset="0"/>
                <a:ea typeface="Calibri" panose="020F0502020204030204" pitchFamily="34" charset="-122"/>
                <a:cs typeface="Calibri" panose="020F0502020204030204" pitchFamily="34" charset="-120"/>
              </a:rPr>
              <a:t>Impact: </a:t>
            </a:r>
            <a:r>
              <a:rPr lang="en-US" sz="1100" i="1" dirty="0">
                <a:solidFill>
                  <a:srgbClr val="D7E3F0"/>
                </a:solidFill>
                <a:latin typeface="Calibri" panose="020F0502020204030204" pitchFamily="34" charset="0"/>
                <a:ea typeface="Calibri" panose="020F0502020204030204" pitchFamily="34" charset="-122"/>
                <a:cs typeface="Calibri" panose="020F0502020204030204" pitchFamily="34" charset="-120"/>
              </a:rPr>
              <a:t>Targets the 3-5 year cohort's 40.9% attrition — the highest of any tenure band.</a:t>
            </a:r>
            <a:endParaRPr lang="en-US" sz="1100" dirty="0"/>
          </a:p>
        </p:txBody>
      </p:sp>
      <p:sp>
        <p:nvSpPr>
          <p:cNvPr id="22" name="Shape 20"/>
          <p:cNvSpPr/>
          <p:nvPr/>
        </p:nvSpPr>
        <p:spPr>
          <a:xfrm>
            <a:off x="6231636" y="4160520"/>
            <a:ext cx="5408676" cy="2286000"/>
          </a:xfrm>
          <a:prstGeom prst="roundRect">
            <a:avLst>
              <a:gd name="adj" fmla="val 3200"/>
            </a:avLst>
          </a:prstGeom>
          <a:solidFill>
            <a:srgbClr val="0F3D5C"/>
          </a:solidFill>
        </p:spPr>
      </p:sp>
      <p:sp>
        <p:nvSpPr>
          <p:cNvPr id="23" name="Shape 21"/>
          <p:cNvSpPr/>
          <p:nvPr/>
        </p:nvSpPr>
        <p:spPr>
          <a:xfrm>
            <a:off x="6460236" y="4389120"/>
            <a:ext cx="384048" cy="384048"/>
          </a:xfrm>
          <a:prstGeom prst="ellipse">
            <a:avLst/>
          </a:prstGeom>
          <a:solidFill>
            <a:srgbClr val="E8A33D"/>
          </a:solidFill>
        </p:spPr>
      </p:sp>
      <p:sp>
        <p:nvSpPr>
          <p:cNvPr id="24" name="Text 22"/>
          <p:cNvSpPr/>
          <p:nvPr/>
        </p:nvSpPr>
        <p:spPr>
          <a:xfrm>
            <a:off x="6460236" y="4389120"/>
            <a:ext cx="384048" cy="384048"/>
          </a:xfrm>
          <a:prstGeom prst="rect">
            <a:avLst/>
          </a:prstGeom>
          <a:noFill/>
        </p:spPr>
        <p:txBody>
          <a:bodyPr wrap="square" rtlCol="0" anchor="ctr"/>
          <a:lstStyle/>
          <a:p>
            <a:pPr marL="0" indent="0" algn="ctr">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4</a:t>
            </a:r>
            <a:endParaRPr lang="en-US" sz="1500" dirty="0"/>
          </a:p>
        </p:txBody>
      </p:sp>
      <p:sp>
        <p:nvSpPr>
          <p:cNvPr id="25" name="Text 23"/>
          <p:cNvSpPr/>
          <p:nvPr/>
        </p:nvSpPr>
        <p:spPr>
          <a:xfrm>
            <a:off x="7008876" y="4361688"/>
            <a:ext cx="4402836" cy="50292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Institutionalize Stay Interviews</a:t>
            </a:r>
            <a:endParaRPr lang="en-US" sz="1500" dirty="0"/>
          </a:p>
        </p:txBody>
      </p:sp>
      <p:sp>
        <p:nvSpPr>
          <p:cNvPr id="26" name="Text 24"/>
          <p:cNvSpPr/>
          <p:nvPr/>
        </p:nvSpPr>
        <p:spPr>
          <a:xfrm>
            <a:off x="6505956" y="4983480"/>
            <a:ext cx="4860036" cy="914400"/>
          </a:xfrm>
          <a:prstGeom prst="rect">
            <a:avLst/>
          </a:prstGeom>
          <a:noFill/>
        </p:spPr>
        <p:txBody>
          <a:bodyPr wrap="square" rtlCol="0" anchor="ctr"/>
          <a:lstStyle/>
          <a:p>
            <a:pPr marL="0" indent="0">
              <a:lnSpc>
                <a:spcPct val="115000"/>
              </a:lnSpc>
              <a:buNone/>
            </a:pPr>
            <a:r>
              <a:rPr lang="en-US" sz="1150" b="1" dirty="0">
                <a:solidFill>
                  <a:srgbClr val="CADCFC"/>
                </a:solidFill>
                <a:latin typeface="Calibri" panose="020F0502020204030204" pitchFamily="34" charset="0"/>
                <a:ea typeface="Calibri" panose="020F0502020204030204" pitchFamily="34" charset="-122"/>
                <a:cs typeface="Calibri" panose="020F0502020204030204" pitchFamily="34" charset="-120"/>
              </a:rPr>
              <a:t>Action: </a:t>
            </a:r>
            <a:r>
              <a:rPr lang="en-US" sz="1150" dirty="0">
                <a:solidFill>
                  <a:srgbClr val="D7E3F0"/>
                </a:solidFill>
                <a:latin typeface="Calibri" panose="020F0502020204030204" pitchFamily="34" charset="0"/>
                <a:ea typeface="Calibri" panose="020F0502020204030204" pitchFamily="34" charset="-122"/>
                <a:cs typeface="Calibri" panose="020F0502020204030204" pitchFamily="34" charset="-120"/>
              </a:rPr>
              <a:t>Require manager check-ins at 24 months to surface burnout before exit decisions, prioritizing Marketing first.</a:t>
            </a:r>
            <a:endParaRPr lang="en-US" sz="1150" dirty="0"/>
          </a:p>
        </p:txBody>
      </p:sp>
      <p:sp>
        <p:nvSpPr>
          <p:cNvPr id="27" name="Text 25"/>
          <p:cNvSpPr/>
          <p:nvPr/>
        </p:nvSpPr>
        <p:spPr>
          <a:xfrm>
            <a:off x="6505956" y="5852160"/>
            <a:ext cx="4860036" cy="548640"/>
          </a:xfrm>
          <a:prstGeom prst="rect">
            <a:avLst/>
          </a:prstGeom>
          <a:noFill/>
        </p:spPr>
        <p:txBody>
          <a:bodyPr wrap="square" rtlCol="0" anchor="ctr"/>
          <a:lstStyle/>
          <a:p>
            <a:pPr marL="0" indent="0">
              <a:lnSpc>
                <a:spcPct val="110000"/>
              </a:lnSpc>
              <a:buNone/>
            </a:pPr>
            <a:r>
              <a:rPr lang="en-US" sz="1100" b="1" dirty="0">
                <a:solidFill>
                  <a:srgbClr val="6FC3A0"/>
                </a:solidFill>
                <a:latin typeface="Calibri" panose="020F0502020204030204" pitchFamily="34" charset="0"/>
                <a:ea typeface="Calibri" panose="020F0502020204030204" pitchFamily="34" charset="-122"/>
                <a:cs typeface="Calibri" panose="020F0502020204030204" pitchFamily="34" charset="-120"/>
              </a:rPr>
              <a:t>Impact: </a:t>
            </a:r>
            <a:r>
              <a:rPr lang="en-US" sz="1100" i="1" dirty="0">
                <a:solidFill>
                  <a:srgbClr val="D7E3F0"/>
                </a:solidFill>
                <a:latin typeface="Calibri" panose="020F0502020204030204" pitchFamily="34" charset="0"/>
                <a:ea typeface="Calibri" panose="020F0502020204030204" pitchFamily="34" charset="-122"/>
                <a:cs typeface="Calibri" panose="020F0502020204030204" pitchFamily="34" charset="-120"/>
              </a:rPr>
              <a:t>Marketing leads all departments at 42.8% attrition — the clearest case for early intervention.</a:t>
            </a:r>
            <a:endParaRPr lang="en-US" sz="1100" dirty="0"/>
          </a:p>
        </p:txBody>
      </p:sp>
      <p:sp>
        <p:nvSpPr>
          <p:cNvPr id="29" name="Text 26"/>
          <p:cNvSpPr/>
          <p:nvPr/>
        </p:nvSpPr>
        <p:spPr>
          <a:xfrm>
            <a:off x="457200" y="6473952"/>
            <a:ext cx="7315200" cy="274320"/>
          </a:xfrm>
          <a:prstGeom prst="rect">
            <a:avLst/>
          </a:prstGeom>
          <a:noFill/>
        </p:spPr>
        <p:txBody>
          <a:bodyPr wrap="square" rtlCol="0" anchor="ctr"/>
          <a:lstStyle/>
          <a:p>
            <a:pPr marL="0" indent="0" algn="l">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SaltCorp HR Analytics</a:t>
            </a:r>
            <a:endParaRPr lang="en-US" sz="1000" dirty="0"/>
          </a:p>
        </p:txBody>
      </p:sp>
      <p:sp>
        <p:nvSpPr>
          <p:cNvPr id="30" name="Text 27"/>
          <p:cNvSpPr/>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F3D5C"/>
          </a:solidFill>
        </p:spPr>
      </p:sp>
      <p:sp>
        <p:nvSpPr>
          <p:cNvPr id="3" name="Shape 1"/>
          <p:cNvSpPr/>
          <p:nvPr/>
        </p:nvSpPr>
        <p:spPr>
          <a:xfrm>
            <a:off x="10607040" y="4206240"/>
            <a:ext cx="3108960" cy="3108960"/>
          </a:xfrm>
          <a:prstGeom prst="ellipse">
            <a:avLst/>
          </a:prstGeom>
          <a:solidFill>
            <a:srgbClr val="1C7293">
              <a:alpha val="45000"/>
            </a:srgbClr>
          </a:solidFill>
        </p:spPr>
      </p:sp>
      <p:sp>
        <p:nvSpPr>
          <p:cNvPr id="4" name="Text 2"/>
          <p:cNvSpPr/>
          <p:nvPr/>
        </p:nvSpPr>
        <p:spPr>
          <a:xfrm>
            <a:off x="640080" y="1371600"/>
            <a:ext cx="8229600" cy="1005840"/>
          </a:xfrm>
          <a:prstGeom prst="rect">
            <a:avLst/>
          </a:prstGeom>
          <a:noFill/>
        </p:spPr>
        <p:txBody>
          <a:bodyPr wrap="square"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400" dirty="0"/>
          </a:p>
        </p:txBody>
      </p:sp>
      <p:sp>
        <p:nvSpPr>
          <p:cNvPr id="5" name="Text 3"/>
          <p:cNvSpPr/>
          <p:nvPr/>
        </p:nvSpPr>
        <p:spPr>
          <a:xfrm>
            <a:off x="640080" y="2331720"/>
            <a:ext cx="7315200" cy="457200"/>
          </a:xfrm>
          <a:prstGeom prst="rect">
            <a:avLst/>
          </a:prstGeom>
          <a:noFill/>
        </p:spPr>
        <p:txBody>
          <a:bodyPr wrap="square" rtlCol="0" anchor="ctr"/>
          <a:lstStyle/>
          <a:p>
            <a:pPr marL="0" indent="0">
              <a:buNone/>
            </a:pPr>
            <a:r>
              <a:rPr lang="en-US" sz="1600" dirty="0">
                <a:solidFill>
                  <a:srgbClr val="CADCFC"/>
                </a:solidFill>
                <a:latin typeface="Calibri" panose="020F0502020204030204" pitchFamily="34" charset="0"/>
                <a:ea typeface="Calibri" panose="020F0502020204030204" pitchFamily="34" charset="-122"/>
                <a:cs typeface="Calibri" panose="020F0502020204030204" pitchFamily="34" charset="-120"/>
              </a:rPr>
              <a:t>Questions &amp; discussion welcome</a:t>
            </a:r>
            <a:endParaRPr lang="en-US" sz="1600" dirty="0"/>
          </a:p>
        </p:txBody>
      </p:sp>
      <p:sp>
        <p:nvSpPr>
          <p:cNvPr id="6" name="Shape 4"/>
          <p:cNvSpPr/>
          <p:nvPr/>
        </p:nvSpPr>
        <p:spPr>
          <a:xfrm>
            <a:off x="640080" y="3063240"/>
            <a:ext cx="4754880" cy="0"/>
          </a:xfrm>
          <a:prstGeom prst="line">
            <a:avLst/>
          </a:prstGeom>
          <a:noFill/>
          <a:ln w="19050">
            <a:solidFill>
              <a:srgbClr val="1C7293"/>
            </a:solidFill>
            <a:prstDash val="solid"/>
          </a:ln>
        </p:spPr>
      </p:sp>
      <p:sp>
        <p:nvSpPr>
          <p:cNvPr id="7" name="Text 5"/>
          <p:cNvSpPr/>
          <p:nvPr/>
        </p:nvSpPr>
        <p:spPr>
          <a:xfrm>
            <a:off x="640080" y="3291840"/>
            <a:ext cx="7315200" cy="365760"/>
          </a:xfrm>
          <a:prstGeom prst="rect">
            <a:avLst/>
          </a:prstGeom>
          <a:noFill/>
        </p:spPr>
        <p:txBody>
          <a:bodyPr wrap="square" rtlCol="0" anchor="ctr"/>
          <a:lstStyle/>
          <a:p>
            <a:pPr marL="0" indent="0">
              <a:buNone/>
            </a:pPr>
            <a:r>
              <a:rPr lang="en-US" sz="1400" b="1" dirty="0">
                <a:solidFill>
                  <a:srgbClr val="E8A33D"/>
                </a:solidFill>
                <a:latin typeface="Calibri" panose="020F0502020204030204" pitchFamily="34" charset="0"/>
                <a:ea typeface="Calibri" panose="020F0502020204030204" pitchFamily="34" charset="-122"/>
                <a:cs typeface="Calibri" panose="020F0502020204030204" pitchFamily="34" charset="-120"/>
              </a:rPr>
              <a:t>Proposed Next Steps</a:t>
            </a:r>
            <a:endParaRPr lang="en-US" sz="1400" dirty="0"/>
          </a:p>
        </p:txBody>
      </p:sp>
      <p:sp>
        <p:nvSpPr>
          <p:cNvPr id="8" name="Text 6"/>
          <p:cNvSpPr/>
          <p:nvPr/>
        </p:nvSpPr>
        <p:spPr>
          <a:xfrm>
            <a:off x="640080" y="3703320"/>
            <a:ext cx="320040" cy="365760"/>
          </a:xfrm>
          <a:prstGeom prst="rect">
            <a:avLst/>
          </a:prstGeom>
          <a:noFill/>
        </p:spPr>
        <p:txBody>
          <a:bodyPr wrap="square" rtlCol="0" anchor="ctr"/>
          <a:lstStyle/>
          <a:p>
            <a:pPr marL="0" indent="0">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9" name="Text 7"/>
          <p:cNvSpPr/>
          <p:nvPr/>
        </p:nvSpPr>
        <p:spPr>
          <a:xfrm>
            <a:off x="1005840" y="3703320"/>
            <a:ext cx="7772400" cy="36576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Review the four recommendations with department leads (Finance, Marketing)</a:t>
            </a:r>
            <a:endParaRPr lang="en-US" sz="1300" dirty="0"/>
          </a:p>
        </p:txBody>
      </p:sp>
      <p:sp>
        <p:nvSpPr>
          <p:cNvPr id="10" name="Text 8"/>
          <p:cNvSpPr/>
          <p:nvPr/>
        </p:nvSpPr>
        <p:spPr>
          <a:xfrm>
            <a:off x="640080" y="4160520"/>
            <a:ext cx="320040" cy="365760"/>
          </a:xfrm>
          <a:prstGeom prst="rect">
            <a:avLst/>
          </a:prstGeom>
          <a:noFill/>
        </p:spPr>
        <p:txBody>
          <a:bodyPr wrap="square" rtlCol="0" anchor="ctr"/>
          <a:lstStyle/>
          <a:p>
            <a:pPr marL="0" indent="0">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1" name="Text 9"/>
          <p:cNvSpPr/>
          <p:nvPr/>
        </p:nvSpPr>
        <p:spPr>
          <a:xfrm>
            <a:off x="1005840" y="4160520"/>
            <a:ext cx="7772400" cy="36576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Assign an owner and target date for each initiative</a:t>
            </a:r>
            <a:endParaRPr lang="en-US" sz="1300" dirty="0"/>
          </a:p>
        </p:txBody>
      </p:sp>
      <p:sp>
        <p:nvSpPr>
          <p:cNvPr id="12" name="Text 10"/>
          <p:cNvSpPr/>
          <p:nvPr/>
        </p:nvSpPr>
        <p:spPr>
          <a:xfrm>
            <a:off x="640080" y="4617720"/>
            <a:ext cx="320040" cy="365760"/>
          </a:xfrm>
          <a:prstGeom prst="rect">
            <a:avLst/>
          </a:prstGeom>
          <a:noFill/>
        </p:spPr>
        <p:txBody>
          <a:bodyPr wrap="square" rtlCol="0" anchor="ctr"/>
          <a:lstStyle/>
          <a:p>
            <a:pPr marL="0" indent="0">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3" name="Text 11"/>
          <p:cNvSpPr/>
          <p:nvPr/>
        </p:nvSpPr>
        <p:spPr>
          <a:xfrm>
            <a:off x="1005840" y="4617720"/>
            <a:ext cx="7772400" cy="365760"/>
          </a:xfrm>
          <a:prstGeom prst="rect">
            <a:avLst/>
          </a:prstGeom>
          <a:noFill/>
        </p:spPr>
        <p:txBody>
          <a:bodyPr wrap="square"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Reconvene in 30 days to confirm rollout and set success metrics</a:t>
            </a:r>
            <a:endParaRPr lang="en-US" sz="1300" dirty="0"/>
          </a:p>
        </p:txBody>
      </p:sp>
      <p:sp>
        <p:nvSpPr>
          <p:cNvPr id="14" name="Text 12"/>
          <p:cNvSpPr/>
          <p:nvPr/>
        </p:nvSpPr>
        <p:spPr>
          <a:xfrm>
            <a:off x="640080" y="6126480"/>
            <a:ext cx="7315200" cy="365760"/>
          </a:xfrm>
          <a:prstGeom prst="rect">
            <a:avLst/>
          </a:prstGeom>
          <a:noFill/>
        </p:spPr>
        <p:txBody>
          <a:bodyPr wrap="square" rtlCol="0" anchor="ctr"/>
          <a:lstStyle/>
          <a:p>
            <a:pPr marL="0" indent="0">
              <a:buNone/>
            </a:pPr>
            <a:r>
              <a:rPr lang="en-US" sz="1200" dirty="0">
                <a:solidFill>
                  <a:srgbClr val="6B7C93"/>
                </a:solidFill>
                <a:latin typeface="Calibri" panose="020F0502020204030204" pitchFamily="34" charset="0"/>
                <a:ea typeface="Calibri" panose="020F0502020204030204" pitchFamily="34" charset="-122"/>
                <a:cs typeface="Calibri" panose="020F0502020204030204" pitchFamily="34" charset="-120"/>
              </a:rPr>
              <a:t>HR Analytics Report  •  July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4557</Words>
  <Application>WPS Presentation</Application>
  <PresentationFormat>On-screen Show (16:9)</PresentationFormat>
  <Paragraphs>229</Paragraphs>
  <Slides>10</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Calibri</vt:lpstr>
      <vt:lpstr>Calibri</vt:lpstr>
      <vt:lpstr>Calibri</vt:lpstr>
      <vt:lpstr>Cambria</vt:lpstr>
      <vt:lpstr>Cambria</vt:lpstr>
      <vt:lpstr>Cambria</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Joan Kamau</cp:lastModifiedBy>
  <cp:revision>4</cp:revision>
  <dcterms:created xsi:type="dcterms:W3CDTF">2026-07-29T16:14:00Z</dcterms:created>
  <dcterms:modified xsi:type="dcterms:W3CDTF">2026-07-30T20:08:15Z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455A77429B62437885A6E9D63110E4B0_12</vt:lpwstr>
  </property>
</Properties>
</file>